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55" r:id="rId2"/>
    <p:sldId id="394" r:id="rId3"/>
    <p:sldId id="358" r:id="rId4"/>
    <p:sldId id="359" r:id="rId5"/>
    <p:sldId id="360" r:id="rId6"/>
    <p:sldId id="381" r:id="rId7"/>
    <p:sldId id="388" r:id="rId8"/>
    <p:sldId id="364" r:id="rId9"/>
    <p:sldId id="365" r:id="rId10"/>
    <p:sldId id="366" r:id="rId11"/>
    <p:sldId id="391" r:id="rId12"/>
    <p:sldId id="382" r:id="rId13"/>
    <p:sldId id="369" r:id="rId14"/>
    <p:sldId id="372" r:id="rId15"/>
    <p:sldId id="389" r:id="rId16"/>
    <p:sldId id="390" r:id="rId17"/>
    <p:sldId id="371" r:id="rId18"/>
    <p:sldId id="392" r:id="rId19"/>
    <p:sldId id="383" r:id="rId20"/>
    <p:sldId id="393" r:id="rId21"/>
    <p:sldId id="38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6D7"/>
    <a:srgbClr val="E7F4E1"/>
    <a:srgbClr val="FFF4D0"/>
    <a:srgbClr val="8BB8D2"/>
    <a:srgbClr val="92BED4"/>
    <a:srgbClr val="9ACADD"/>
    <a:srgbClr val="4E95DA"/>
    <a:srgbClr val="9ACADE"/>
    <a:srgbClr val="DDE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13"/>
    <p:restoredTop sz="95084"/>
  </p:normalViewPr>
  <p:slideViewPr>
    <p:cSldViewPr snapToGrid="0">
      <p:cViewPr varScale="1">
        <p:scale>
          <a:sx n="117" d="100"/>
          <a:sy n="117" d="100"/>
        </p:scale>
        <p:origin x="10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8" d="100"/>
          <a:sy n="158" d="100"/>
        </p:scale>
        <p:origin x="684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8B7DFD-4FB0-5799-7B96-039B0FA1BB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353BF-DE8E-F6CA-AD67-4D576C03FC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DF34E-552F-C94B-909E-D91DB61A216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51F1D-F4CC-C70B-5DB6-FC6446C634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F5C39-D31B-90C8-187F-C057C5CFC5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92AEA-488E-1C45-A508-206994209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23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D869A-9E2E-7D48-AD44-C9184956C6DF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91DC1-3A78-454F-A0A1-99DB103B9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1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2FB6-A006-1D12-3BF5-ED8D4296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1A1B2-2097-92C6-3B8E-28D74730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FDA12-9EE1-C518-8392-8A32E58DD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05A79-618E-91B8-CBED-A654C63AD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2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415F-353A-509E-7475-7B2DAB35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E8B8D-41AA-4ADB-A0CE-F41F1767E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BB479-97D0-59F2-031D-A86719B50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0ACB2-7C20-EFDC-2901-EBA32DFA3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1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6F82-BD7B-0CBA-85E4-69FAD865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969C6-3BE1-80A8-0525-912B7EA00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D21C9-19AF-A29B-B478-CE89AAB69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75639-7270-CB8F-0F02-7695EAA6E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1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A7B0-ACC0-4C94-5AF8-F6D7AE58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A357E-0876-FBF6-63D5-F198962ED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7F4D5-4B19-0062-7DF7-10691EEB7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D1AC3-D9AB-09F0-842F-CF610EEBE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7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276AF-3305-8D51-7EF3-0099AF03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2C9FF-E19E-5711-F35D-11468E550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7CCC3-DD88-FF4B-497B-638EA39D6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329CE-270D-CB54-FCD4-1552A8C54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22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FC8D7-DEF7-36A3-95B6-9170087A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BE447-0A6A-53B9-CF7D-385E6F62D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9401E-8B5C-8DE8-B3D6-2E708E92B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6CB92-D0AE-582A-98E5-8D7FD9EE9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76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13134-DA44-0696-DDB1-CABE5102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E9D1C-626F-05FE-8DCE-10F01CC67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7D8B6-D2C3-423B-8C65-696758A0E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L-M-SYS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92FA1-0A67-7EAC-06E9-B484B4EBB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69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C6FF-08FC-4CB9-6F1A-B9205CFF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30B21-AF7C-03AA-EE51-0E5C6AB66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5CA97-B6FF-1870-B084-B9829E5E7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7166-1491-3695-A9AE-E45E2E930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29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3F52-298E-7F4C-98F6-4337BAE7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815C0-E013-4C40-7D3E-4268EEA5D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73242-CCBC-F125-7B73-951302235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15B74-A467-4AEB-ACFB-2946249F9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05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6BE3E-8037-06F3-8CE4-A7EF5886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E61F1-7BCA-1255-5F30-684D1E898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D572C-C9E2-3450-DDBD-CD137B37A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AC54E-7C34-F699-EC76-AD004CCEF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16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7CC9-233E-59AD-1C5C-B5EF4117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886B3-66D3-96C8-78AE-860EDF6B3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3CF12-02C6-D133-767C-830F8966E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8E206-68C5-4BF7-A4FC-4411E000C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24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F39D-263D-5121-8B31-EDA8039D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3AADB-40C1-F7B8-4290-8633DB59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F8045-D3A3-B195-A9E0-E1B900E52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CF966-6C59-126C-4DA9-35D6D9A94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31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CFA56-310A-C785-FC46-76D25CF1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FEBCD-AA23-2936-7A02-51C8BDD0C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145D0-72B2-852F-6D06-A2107512A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FDF67-3FD6-AFC5-4746-1A5150304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80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0631-1B31-F041-730E-D8764A60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38E4D-8875-0DA9-C356-CC4EE5EA7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7C2D5-D161-E6D7-EC85-400D631BE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8643F-0DB1-65EC-BC90-1E5AB1FCD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2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DEDB-C972-3B66-11FE-F73006C6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D95F5-1489-26D4-1B42-2DDAE7A99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09125-EEF2-03F6-AA19-DD809DE3C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58730-DF6F-BC4A-6916-3F4E08860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45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4255-3521-A93B-6CF1-863B7778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E39A4-6B46-3AC0-ECD7-BAAA896BC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7F16C-4A2F-AC85-D03F-61C670DEF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321DA-9AED-310F-A9E4-0B1721760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0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A089-A955-E865-674B-96EAEDB2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66841-4BAC-5012-F5B2-E3432F183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F13A9-B0ED-6A07-4430-06A4D8FE0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FB97F-FF66-60F8-6174-A85CEE643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85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D089-FC3D-4064-B5B1-B6D220FA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712FF-6B61-BABA-B147-040995058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45884-A77B-AA97-99C0-67F8050D2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29A8C-2421-64F3-47CB-4A2975BA5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18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94972-AE3E-0E03-2ED4-3AF73ADD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904E9-47BC-F0D2-6E6A-576AA698A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FB579-81B8-AEB1-55AC-D2C0A25B9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88ECF-2061-5835-AC06-1C563B418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1A19-9F3E-69D6-9677-57C187A5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8F9D6-5EAA-6B97-2609-2C47893E4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D0039-325D-C9AD-8CAA-5697B671B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F11B0-498E-37D4-E48A-DFFFE2A79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581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33A-34AC-8119-A385-397D3649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D45AA-3E08-0EA8-848A-64E4B6704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3C660-31B7-A0C0-DE0E-B1D9EDC79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4595B-8413-20A4-025F-953137E6A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91DC1-3A78-454F-A0A1-99DB103B9C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37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2BCC-4EA9-8F8C-D79F-61C93FA4B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3CD80-591E-C777-7590-CE513218F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00013-AB61-ADCA-7550-F59CCD19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FD9C-A443-9D4A-8C6B-20A407A2225B}" type="datetime1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2CB16-32CF-D77A-D87C-2F2E9F12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</p:spTree>
    <p:extLst>
      <p:ext uri="{BB962C8B-B14F-4D97-AF65-F5344CB8AC3E}">
        <p14:creationId xmlns:p14="http://schemas.microsoft.com/office/powerpoint/2010/main" val="405337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54E-5F91-E432-7B64-BD0BF37D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D7A1E-586A-F830-67E0-9DF49AA0B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9D46F-151D-C5BC-0A6D-6B774AD4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5FDC-AAD4-7349-91F2-1065E3812E15}" type="datetime1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CC37A-A6D4-D259-BA90-3D143634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1E85-4576-9CFD-DD78-88CD4C40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31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ADFF-92EB-EA03-D039-A13905CE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344E9-1E7E-ED59-58F6-6751F9C1E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A81EF-4725-F260-A175-22F50A57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9857-E5E6-0742-A8B7-950ABC7095E7}" type="datetime1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12C98-5FB9-1D32-EC7F-690CEDBF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D9796-0B4D-F633-A8BD-EC63AC48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2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496B-4DA3-7EAE-095F-FDB74DDE3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03D71-C564-5964-511A-A80DBCD3D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436FA-07AA-8A9C-C5BA-A6956193A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1EDB9-842C-E742-A48C-17880C2C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5D93-3C6B-2D4A-99FF-6279FD3F8D09}" type="datetime1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542B4-EB7C-63AC-E5EB-48418548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D23E8-2DCE-582B-BF9B-C492405A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8D6E-8F2F-55D2-4E14-A3039C1B7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76162-87C4-8BD0-515E-76531195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2C3BD-978C-50A1-49EE-7E4B8297F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3BDD6-1561-356A-91C7-110E08264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2743B-E9C6-846D-D280-D1DA619DE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8A773-29D9-F6B9-D771-A29B6961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A3F9-F0A2-C345-9159-BB214A3574DF}" type="datetime1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2FC69-6726-4C1D-512E-0E0D7FA3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A2158-5E07-B776-9890-44F76011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8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3762-7E71-C7D8-E539-3762D314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AC95B-ABD9-5FEE-BE82-EBF6B5F0B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94CAA-26EA-6648-99A6-B12F64DC6021}" type="datetime1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1AAA7-1DC1-D998-6D81-ACBABE26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89504-0C6E-0313-98FD-942493B0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0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830AF-C071-62DF-EF24-67288032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062B0-8245-BA4C-A0E2-A13E48591883}" type="datetime1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35DD2-8212-6219-A786-AFFFC2A4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4C923-2D19-7AD3-D5DF-AA16DD51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2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CF65-EB79-A372-8902-A6B62A59F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A516A-BDFC-FF4C-C0EB-62D711F30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1F742-4ECF-9A36-DC97-29476F76A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2585F-34EE-034F-0EFA-DF7C2845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713F-AE20-0E46-8CAE-9CF0B3EDD1A0}" type="datetime1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1FBAD-47FD-64E0-2080-A1E7494D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F8EA0-9B53-8F93-3C35-BD107CB4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0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5D38-6E76-0446-72D3-E222D6A7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99963-6639-A133-C107-9D1CD48AE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1FA7B-BBC9-23B9-E7E5-B828B403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A8C39-BE14-3CCA-4F41-149E74A2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5C66E-B010-0942-BCF6-A8B67CFF166D}" type="datetime1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14567-67B2-17F8-FAC1-548BB225A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05CFF-88A2-CEF6-CC71-3C042211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8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9F82-08B6-F9FB-1383-6613AEBE2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D7B55-1513-B8A3-0F95-A00D02842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A6AC8-B7F6-F3FF-3940-FC02223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2538-6F86-D546-92BF-EEB7BDE6EF5D}" type="datetime1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7495-8C10-95B8-09E6-4850E155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21152-1CB8-A159-C6FF-0D55B850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6737B-4B8F-5428-4A3A-AF435A90E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01274-3ABC-9330-64FE-1CC810F4D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943FF-8CFB-64FA-EC78-D2CBD58A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33EA-E710-9F4A-8C94-3A7C6DDFB7AF}" type="datetime1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08E7A-442F-E1B2-88CA-9C3ECED8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 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27B46-0D69-F971-D1F6-B0938615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86C91-C3DB-EB46-AFF8-0780616C5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0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1F6B05-9960-E67E-4C39-966CC74A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AD2E2-87B4-CE21-DE13-E211C2E13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CEB3C-C000-159E-1CB2-E818A3F13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9CF42-D246-1846-9791-0FAD9AEF9D82}" type="datetime1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F4548-D92B-613F-E00F-87CC8E263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/ 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A2863-42C9-E646-1900-4C43A1E02AC3}"/>
              </a:ext>
            </a:extLst>
          </p:cNvPr>
          <p:cNvSpPr txBox="1"/>
          <p:nvPr userDrawn="1"/>
        </p:nvSpPr>
        <p:spPr>
          <a:xfrm>
            <a:off x="10731514" y="6400412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/>
            <a:fld id="{19EC0C89-6D38-B146-AFFC-5639BCDCC449}" type="slidenum">
              <a:rPr lang="en-US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r>
              <a:rPr lang="zh-CN" altLang="en-US" sz="1200" kern="1200" dirty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en-US" sz="1200" kern="1200" dirty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t>21</a:t>
            </a:r>
            <a:endParaRPr lang="en-US" sz="1200" kern="1200" dirty="0">
              <a:solidFill>
                <a:schemeClr val="tx1">
                  <a:tint val="82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78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5F25-04F3-4B1F-04B9-6AE51C73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44DCF7-DA7A-6CA7-7BCD-6B0C738C77E9}"/>
              </a:ext>
            </a:extLst>
          </p:cNvPr>
          <p:cNvSpPr txBox="1"/>
          <p:nvPr/>
        </p:nvSpPr>
        <p:spPr>
          <a:xfrm>
            <a:off x="3621847" y="4177759"/>
            <a:ext cx="4948307" cy="422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Yujie Ren,   </a:t>
            </a: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Niklas Gruhlke</a:t>
            </a: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,  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Anne Lauscher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3B422-A303-5707-897F-F37D0B862B0D}"/>
              </a:ext>
            </a:extLst>
          </p:cNvPr>
          <p:cNvSpPr txBox="1"/>
          <p:nvPr/>
        </p:nvSpPr>
        <p:spPr>
          <a:xfrm>
            <a:off x="3597879" y="4564359"/>
            <a:ext cx="4996243" cy="42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Trustworthy AI Lab</a:t>
            </a:r>
            <a:r>
              <a:rPr lang="en-US" b="1" dirty="0">
                <a:latin typeface="Helvetica" pitchFamily="2" charset="0"/>
                <a:cs typeface="Arial" panose="020B0604020202020204" pitchFamily="34" charset="0"/>
              </a:rPr>
              <a:t>,   University of Hamburg</a:t>
            </a:r>
            <a:endParaRPr lang="en-US" b="1" dirty="0">
              <a:effectLst/>
              <a:latin typeface="Helvetica" pitchFamily="2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8A29C4-F2CF-61E8-92D6-AC2E35D9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27" y="324583"/>
            <a:ext cx="566092" cy="61405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72EE3E9-2A0E-C36B-7B13-376606DE2F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303" y="327596"/>
            <a:ext cx="1898784" cy="620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9F3FC3-C032-CEB9-141D-8ED8A20A4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161" y="327986"/>
            <a:ext cx="620392" cy="6203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8C944A-3A49-F256-E41D-56519AB1C5FD}"/>
              </a:ext>
            </a:extLst>
          </p:cNvPr>
          <p:cNvSpPr txBox="1"/>
          <p:nvPr/>
        </p:nvSpPr>
        <p:spPr>
          <a:xfrm>
            <a:off x="2851731" y="2178705"/>
            <a:ext cx="6488539" cy="108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buNone/>
            </a:pPr>
            <a:r>
              <a:rPr lang="en-US" sz="2800" b="1" i="0">
                <a:solidFill>
                  <a:srgbClr val="000000"/>
                </a:solidFill>
                <a:effectLst/>
                <a:latin typeface="Helvetica" pitchFamily="2" charset="0"/>
              </a:rPr>
              <a:t>Detecting Hallucinations in Authentic </a:t>
            </a:r>
          </a:p>
          <a:p>
            <a:pPr algn="ctr">
              <a:lnSpc>
                <a:spcPts val="4000"/>
              </a:lnSpc>
              <a:buNone/>
            </a:pPr>
            <a:r>
              <a:rPr lang="en-US" sz="2800" b="1" i="0">
                <a:solidFill>
                  <a:srgbClr val="000000"/>
                </a:solidFill>
                <a:effectLst/>
                <a:latin typeface="Helvetica" pitchFamily="2" charset="0"/>
              </a:rPr>
              <a:t>LLM-Human Interactions</a:t>
            </a:r>
            <a:endParaRPr lang="en-US" sz="2800">
              <a:latin typeface="Helvetica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905083-CA36-7C04-939A-475DDCC4772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775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70507" y="246240"/>
            <a:ext cx="1688789" cy="7838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C602FB-F5B2-F673-F9EE-16ECF86BFB71}"/>
              </a:ext>
            </a:extLst>
          </p:cNvPr>
          <p:cNvSpPr txBox="1"/>
          <p:nvPr/>
        </p:nvSpPr>
        <p:spPr>
          <a:xfrm>
            <a:off x="3118179" y="5415557"/>
            <a:ext cx="5955643" cy="42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LREC 2026 - Palma, Mallorca (Spain), 14 May 2026</a:t>
            </a:r>
            <a:endParaRPr lang="en-US" b="1" dirty="0"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C308A1-A8A7-EA17-3B13-FF9BF53C8566}"/>
              </a:ext>
            </a:extLst>
          </p:cNvPr>
          <p:cNvCxnSpPr>
            <a:cxnSpLocks/>
          </p:cNvCxnSpPr>
          <p:nvPr/>
        </p:nvCxnSpPr>
        <p:spPr>
          <a:xfrm>
            <a:off x="2667000" y="1924279"/>
            <a:ext cx="685800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F53867-9893-473A-B32F-029D18B14813}"/>
              </a:ext>
            </a:extLst>
          </p:cNvPr>
          <p:cNvCxnSpPr>
            <a:cxnSpLocks/>
          </p:cNvCxnSpPr>
          <p:nvPr/>
        </p:nvCxnSpPr>
        <p:spPr>
          <a:xfrm>
            <a:off x="2667000" y="3530030"/>
            <a:ext cx="685800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305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F3F68-9784-FC6B-8794-AE1B2683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F16A5D-81F1-8ACC-3964-9B40236CDA34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EFC5C9-BC6B-8C99-2BA0-276DD225DE4D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Table of Contents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5CCCC-05F3-DB35-4A68-FDC5E0CD7306}"/>
              </a:ext>
            </a:extLst>
          </p:cNvPr>
          <p:cNvSpPr txBox="1"/>
          <p:nvPr/>
        </p:nvSpPr>
        <p:spPr>
          <a:xfrm>
            <a:off x="2457871" y="2179696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1.  Research Background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2A7FC0-C436-11EF-2FF7-E5F0A19819D8}"/>
              </a:ext>
            </a:extLst>
          </p:cNvPr>
          <p:cNvSpPr txBox="1"/>
          <p:nvPr/>
        </p:nvSpPr>
        <p:spPr>
          <a:xfrm>
            <a:off x="2457871" y="2955828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2.  AuthenHallu Benchmark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6F1F4-4111-47B0-2E0E-D7213D71F448}"/>
              </a:ext>
            </a:extLst>
          </p:cNvPr>
          <p:cNvSpPr txBox="1"/>
          <p:nvPr/>
        </p:nvSpPr>
        <p:spPr>
          <a:xfrm>
            <a:off x="2457871" y="3731960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3.  Experiments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BC80C-467A-366B-FA55-1AF8350D30FA}"/>
              </a:ext>
            </a:extLst>
          </p:cNvPr>
          <p:cNvSpPr txBox="1"/>
          <p:nvPr/>
        </p:nvSpPr>
        <p:spPr>
          <a:xfrm>
            <a:off x="2457871" y="4508091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4.  Conclusion &amp; Limitations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4FEC-51AE-2A13-87E6-DA17FA4C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4C590A8B-7BA9-8259-A006-C0715E1AD2CC}"/>
              </a:ext>
            </a:extLst>
          </p:cNvPr>
          <p:cNvSpPr txBox="1"/>
          <p:nvPr/>
        </p:nvSpPr>
        <p:spPr>
          <a:xfrm>
            <a:off x="6442887" y="1681870"/>
            <a:ext cx="1762189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600">
                <a:solidFill>
                  <a:schemeClr val="tx2">
                    <a:lumMod val="25000"/>
                    <a:lumOff val="75000"/>
                  </a:schemeClr>
                </a:solidFill>
                <a:latin typeface="Calibri Light" panose="020F0302020204030204" pitchFamily="34" charset="0"/>
                <a:ea typeface="Cambria Math" panose="02040503050406030204" pitchFamily="18" charset="0"/>
                <a:cs typeface="Calibri Light" panose="020F0302020204030204" pitchFamily="34" charset="0"/>
              </a:rPr>
              <a:t>(     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740304-ED1A-4001-1A66-F547B605AE54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C355C8-DD06-0E35-A951-71E613EEE571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Research Background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DF7DF-EF4B-2615-7568-D719718DFEAA}"/>
              </a:ext>
            </a:extLst>
          </p:cNvPr>
          <p:cNvSpPr txBox="1"/>
          <p:nvPr/>
        </p:nvSpPr>
        <p:spPr>
          <a:xfrm>
            <a:off x="725838" y="1325359"/>
            <a:ext cx="2978145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Hallucination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2CF48-949F-8D15-1768-D77DE25BFEEF}"/>
              </a:ext>
            </a:extLst>
          </p:cNvPr>
          <p:cNvSpPr txBox="1"/>
          <p:nvPr/>
        </p:nvSpPr>
        <p:spPr>
          <a:xfrm>
            <a:off x="725838" y="3390067"/>
            <a:ext cx="4312445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Hallucination Detection Benchmark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1FB3A5-CAB2-A45A-E3F2-F52D68DFD9B2}"/>
              </a:ext>
            </a:extLst>
          </p:cNvPr>
          <p:cNvCxnSpPr>
            <a:cxnSpLocks/>
          </p:cNvCxnSpPr>
          <p:nvPr/>
        </p:nvCxnSpPr>
        <p:spPr>
          <a:xfrm rot="5400000" flipV="1">
            <a:off x="2496480" y="2052278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5918A4-9B64-3D00-5981-28919E728CB5}"/>
              </a:ext>
            </a:extLst>
          </p:cNvPr>
          <p:cNvSpPr/>
          <p:nvPr/>
        </p:nvSpPr>
        <p:spPr>
          <a:xfrm>
            <a:off x="1497478" y="2069957"/>
            <a:ext cx="679616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62A058-EA45-FEA7-2370-EBBAB76BB124}"/>
              </a:ext>
            </a:extLst>
          </p:cNvPr>
          <p:cNvCxnSpPr>
            <a:cxnSpLocks/>
          </p:cNvCxnSpPr>
          <p:nvPr/>
        </p:nvCxnSpPr>
        <p:spPr>
          <a:xfrm rot="5400000" flipV="1">
            <a:off x="3667132" y="2052275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8082BDB-1A3C-3ABC-6A23-FE8605BCC7E6}"/>
              </a:ext>
            </a:extLst>
          </p:cNvPr>
          <p:cNvSpPr/>
          <p:nvPr/>
        </p:nvSpPr>
        <p:spPr>
          <a:xfrm>
            <a:off x="3976810" y="2069957"/>
            <a:ext cx="930527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Response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E105E2-9E17-A4C9-E40E-052DB8C09001}"/>
              </a:ext>
            </a:extLst>
          </p:cNvPr>
          <p:cNvSpPr/>
          <p:nvPr/>
        </p:nvSpPr>
        <p:spPr>
          <a:xfrm>
            <a:off x="2794866" y="2508946"/>
            <a:ext cx="551297" cy="284679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Helvetica" pitchFamily="2" charset="0"/>
              </a:rPr>
              <a:t>LLM</a:t>
            </a:r>
            <a:endParaRPr lang="en-US" sz="1100" b="1" dirty="0"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505300-6E43-753C-8E5F-BF6086E82859}"/>
              </a:ext>
            </a:extLst>
          </p:cNvPr>
          <p:cNvSpPr/>
          <p:nvPr/>
        </p:nvSpPr>
        <p:spPr>
          <a:xfrm>
            <a:off x="3886169" y="2335528"/>
            <a:ext cx="1221947" cy="545545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6"/>
                </a:solidFill>
                <a:latin typeface="Helvetica" pitchFamily="2" charset="0"/>
              </a:rPr>
              <a:t>Factual</a:t>
            </a:r>
            <a:r>
              <a:rPr lang="en-US" sz="1200" b="1" dirty="0">
                <a:solidFill>
                  <a:schemeClr val="accent6"/>
                </a:solidFill>
                <a:effectLst/>
                <a:latin typeface="Helvetica" pitchFamily="2" charset="0"/>
              </a:rPr>
              <a:t>?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  <a:effectLst/>
                <a:latin typeface="Helvetica" pitchFamily="2" charset="0"/>
              </a:rPr>
              <a:t>Hallucinated?</a:t>
            </a:r>
            <a:endParaRPr lang="en-US" sz="1100" b="1" dirty="0">
              <a:solidFill>
                <a:srgbClr val="FF0000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F48DB8-F502-5322-7835-1F6F9CAA7745}"/>
              </a:ext>
            </a:extLst>
          </p:cNvPr>
          <p:cNvSpPr/>
          <p:nvPr/>
        </p:nvSpPr>
        <p:spPr>
          <a:xfrm>
            <a:off x="8329868" y="2537256"/>
            <a:ext cx="1221947" cy="416384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Helvetica" pitchFamily="2" charset="0"/>
              </a:rPr>
              <a:t>Hallucination Detector</a:t>
            </a:r>
            <a:endParaRPr lang="en-US" sz="1100" b="1" dirty="0"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1D8213-02E2-BD69-7F79-69E15F8E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173" y="1891908"/>
            <a:ext cx="610923" cy="610923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96E7C6-BDFA-855D-DB1F-11CEBF98CC27}"/>
              </a:ext>
            </a:extLst>
          </p:cNvPr>
          <p:cNvCxnSpPr>
            <a:cxnSpLocks/>
          </p:cNvCxnSpPr>
          <p:nvPr/>
        </p:nvCxnSpPr>
        <p:spPr>
          <a:xfrm rot="5400000" flipV="1">
            <a:off x="8361196" y="2052278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A85F59-27D0-1EDB-A8D3-DA1A2C213A32}"/>
              </a:ext>
            </a:extLst>
          </p:cNvPr>
          <p:cNvCxnSpPr>
            <a:cxnSpLocks/>
          </p:cNvCxnSpPr>
          <p:nvPr/>
        </p:nvCxnSpPr>
        <p:spPr>
          <a:xfrm rot="5400000" flipV="1">
            <a:off x="9534454" y="2051434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2BD2B85-63AF-1DD2-FD28-F4BC0EF4558C}"/>
              </a:ext>
            </a:extLst>
          </p:cNvPr>
          <p:cNvSpPr/>
          <p:nvPr/>
        </p:nvSpPr>
        <p:spPr>
          <a:xfrm>
            <a:off x="6979927" y="1905023"/>
            <a:ext cx="679616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Query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C231275-B87F-7766-A302-058EF9B384EA}"/>
              </a:ext>
            </a:extLst>
          </p:cNvPr>
          <p:cNvSpPr/>
          <p:nvPr/>
        </p:nvSpPr>
        <p:spPr>
          <a:xfrm>
            <a:off x="6866583" y="2307718"/>
            <a:ext cx="930527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Response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E7432BB-8860-3CC0-39C1-2269C0B8E083}"/>
              </a:ext>
            </a:extLst>
          </p:cNvPr>
          <p:cNvSpPr/>
          <p:nvPr/>
        </p:nvSpPr>
        <p:spPr>
          <a:xfrm>
            <a:off x="9855540" y="2069957"/>
            <a:ext cx="1189398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effectLst/>
                <a:latin typeface="Helvetica" pitchFamily="2" charset="0"/>
              </a:rPr>
              <a:t>Hallucinated!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5533CC-2063-0741-F516-4B0CE804DB46}"/>
              </a:ext>
            </a:extLst>
          </p:cNvPr>
          <p:cNvSpPr txBox="1"/>
          <p:nvPr/>
        </p:nvSpPr>
        <p:spPr>
          <a:xfrm>
            <a:off x="1335993" y="3727229"/>
            <a:ext cx="4760008" cy="307777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fontAlgn="ctr">
              <a:buSzPct val="160000"/>
            </a:pPr>
            <a:r>
              <a:rPr lang="en-US" sz="1400" dirty="0">
                <a:latin typeface="Helvetica" pitchFamily="2" charset="0"/>
                <a:cs typeface="Arial" panose="020B0604020202020204" pitchFamily="34" charset="0"/>
              </a:rPr>
              <a:t>To evaluate the performance of </a:t>
            </a:r>
            <a:r>
              <a:rPr lang="en-US" sz="1400" b="1" dirty="0">
                <a:latin typeface="Helvetica" pitchFamily="2" charset="0"/>
                <a:cs typeface="Arial" panose="020B0604020202020204" pitchFamily="34" charset="0"/>
              </a:rPr>
              <a:t>hallucination detectors</a:t>
            </a:r>
            <a:endParaRPr lang="en-US" sz="1400" dirty="0">
              <a:latin typeface="Helvetica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4BFD37A-EA4C-2458-AEDF-5C36E654A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881022"/>
              </p:ext>
            </p:extLst>
          </p:nvPr>
        </p:nvGraphicFramePr>
        <p:xfrm>
          <a:off x="3210140" y="4279004"/>
          <a:ext cx="3108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09168389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01771526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Helvetica" pitchFamily="2" charset="0"/>
                          <a:cs typeface="Arial" panose="020B0604020202020204" pitchFamily="34" charset="0"/>
                        </a:rPr>
                        <a:t>Query-response pair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Helvetica" pitchFamily="2" charset="0"/>
                          <a:ea typeface="+mn-ea"/>
                          <a:cs typeface="Arial" panose="020B0604020202020204" pitchFamily="34" charset="0"/>
                        </a:rPr>
                        <a:t>Ground truth label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3651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Helvetica" pitchFamily="2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a:t>(query, response)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/>
                      <a:r>
                        <a:rPr lang="en-US" sz="1100" b="0">
                          <a:solidFill>
                            <a:schemeClr val="accent6"/>
                          </a:solidFill>
                          <a:latin typeface="Helvetica" pitchFamily="2" charset="0"/>
                        </a:rPr>
                        <a:t>Factual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7104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Helvetica" pitchFamily="2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a:t>(query, response)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/>
                      <a:r>
                        <a:rPr lang="en-US" sz="1100" b="0">
                          <a:solidFill>
                            <a:srgbClr val="FF0000"/>
                          </a:solidFill>
                          <a:latin typeface="Helvetica" pitchFamily="2" charset="0"/>
                        </a:rPr>
                        <a:t>Hallucinated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567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Helvetica" pitchFamily="2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a:t>(query, response)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/>
                      <a:r>
                        <a:rPr lang="en-US" sz="1100" b="0">
                          <a:solidFill>
                            <a:srgbClr val="FF0000"/>
                          </a:solidFill>
                          <a:latin typeface="Helvetica" pitchFamily="2" charset="0"/>
                        </a:rPr>
                        <a:t>Hallucinated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8562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latin typeface="Helvetica" pitchFamily="2" charset="0"/>
                        </a:rPr>
                        <a:t>...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fontAlgn="t"/>
                      <a:r>
                        <a:rPr lang="en-US" sz="1600" b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...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734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FFEC59-4E4D-1CEB-5F8B-7C08F7CDD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855920"/>
              </p:ext>
            </p:extLst>
          </p:nvPr>
        </p:nvGraphicFramePr>
        <p:xfrm>
          <a:off x="6811316" y="4279004"/>
          <a:ext cx="1097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01771526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Helvetica" pitchFamily="2" charset="0"/>
                          <a:ea typeface="+mn-ea"/>
                          <a:cs typeface="Arial" panose="020B0604020202020204" pitchFamily="34" charset="0"/>
                        </a:rPr>
                        <a:t>Prediction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3651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algn="ctr"/>
                      <a:r>
                        <a:rPr lang="en-US" sz="1100" b="0">
                          <a:solidFill>
                            <a:srgbClr val="FF0000"/>
                          </a:solidFill>
                          <a:latin typeface="Helvetica" pitchFamily="2" charset="0"/>
                        </a:rPr>
                        <a:t>Hallucinated</a:t>
                      </a:r>
                      <a:endParaRPr lang="en-US" sz="1100" b="0">
                        <a:solidFill>
                          <a:schemeClr val="accent6"/>
                        </a:solidFill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7104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algn="ctr"/>
                      <a:r>
                        <a:rPr lang="en-US" sz="1100" b="0">
                          <a:solidFill>
                            <a:schemeClr val="accent6"/>
                          </a:solidFill>
                          <a:latin typeface="Helvetica" pitchFamily="2" charset="0"/>
                        </a:rPr>
                        <a:t>Factual</a:t>
                      </a:r>
                      <a:endParaRPr lang="en-US" sz="1100" b="0">
                        <a:solidFill>
                          <a:srgbClr val="FF0000"/>
                        </a:solidFill>
                        <a:latin typeface="Helvetica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567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algn="ctr"/>
                      <a:r>
                        <a:rPr lang="en-US" sz="1100" b="0">
                          <a:solidFill>
                            <a:srgbClr val="FF0000"/>
                          </a:solidFill>
                          <a:latin typeface="Helvetica" pitchFamily="2" charset="0"/>
                        </a:rPr>
                        <a:t>Hallucinated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8562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algn="ctr" fontAlgn="t"/>
                      <a:r>
                        <a:rPr lang="en-US" sz="1600" b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...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734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AD6F426-4566-BD24-E801-CB1B4D3CE7BD}"/>
              </a:ext>
            </a:extLst>
          </p:cNvPr>
          <p:cNvSpPr txBox="1"/>
          <p:nvPr/>
        </p:nvSpPr>
        <p:spPr>
          <a:xfrm>
            <a:off x="8400812" y="4511360"/>
            <a:ext cx="1151003" cy="86177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fontAlgn="ctr">
              <a:lnSpc>
                <a:spcPts val="1980"/>
              </a:lnSpc>
              <a:buSzPct val="160000"/>
            </a:pP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Precision = ?</a:t>
            </a:r>
          </a:p>
          <a:p>
            <a:pPr fontAlgn="ctr">
              <a:lnSpc>
                <a:spcPts val="1980"/>
              </a:lnSpc>
              <a:buSzPct val="160000"/>
            </a:pP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Recall = ?</a:t>
            </a:r>
          </a:p>
          <a:p>
            <a:pPr fontAlgn="ctr">
              <a:lnSpc>
                <a:spcPts val="1980"/>
              </a:lnSpc>
              <a:buSzPct val="160000"/>
            </a:pPr>
            <a:r>
              <a:rPr lang="en-US" sz="1200" dirty="0">
                <a:latin typeface="Helvetica" pitchFamily="2" charset="0"/>
                <a:cs typeface="Arial" panose="020B0604020202020204" pitchFamily="34" charset="0"/>
              </a:rPr>
              <a:t>F1 = ?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4F47F32-EC6A-0345-CF84-3DDF4F70C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7431" y="1938681"/>
            <a:ext cx="545545" cy="54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E611-004A-F33A-682B-1AFC4889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53EF7D-F069-CF0C-D2CD-D41058BBC065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3A3305-5DDD-5BE2-AE74-6EB8F29D41DA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Research Background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D10CD-D22C-DB61-B60E-604514DA6382}"/>
              </a:ext>
            </a:extLst>
          </p:cNvPr>
          <p:cNvSpPr txBox="1"/>
          <p:nvPr/>
        </p:nvSpPr>
        <p:spPr>
          <a:xfrm>
            <a:off x="1040734" y="1365978"/>
            <a:ext cx="6280525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How to collect </a:t>
            </a:r>
            <a:r>
              <a:rPr lang="en-US" sz="1600" b="1" dirty="0">
                <a:solidFill>
                  <a:srgbClr val="FF0000"/>
                </a:solidFill>
                <a:latin typeface="Helvetica" pitchFamily="2" charset="0"/>
                <a:cs typeface="Arial" panose="020B0604020202020204" pitchFamily="34" charset="0"/>
              </a:rPr>
              <a:t>hallucinated</a:t>
            </a: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 query-response pairs?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A9E059-2E06-6DA5-CB38-E62E332D0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280" y="2318149"/>
            <a:ext cx="551297" cy="551297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0A9544C-1E5F-60BE-F1B9-6E3F1025C675}"/>
              </a:ext>
            </a:extLst>
          </p:cNvPr>
          <p:cNvSpPr/>
          <p:nvPr/>
        </p:nvSpPr>
        <p:spPr>
          <a:xfrm>
            <a:off x="4942277" y="2870124"/>
            <a:ext cx="551298" cy="284679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Helvetica" pitchFamily="2" charset="0"/>
              </a:rPr>
              <a:t>LLM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8E06E6-D004-1C9F-C195-36AC1BB81F3C}"/>
              </a:ext>
            </a:extLst>
          </p:cNvPr>
          <p:cNvCxnSpPr>
            <a:cxnSpLocks/>
          </p:cNvCxnSpPr>
          <p:nvPr/>
        </p:nvCxnSpPr>
        <p:spPr>
          <a:xfrm rot="5400000" flipV="1">
            <a:off x="4623011" y="2433778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282ADE5-A879-F7CC-4B45-CFA419AF2CDC}"/>
              </a:ext>
            </a:extLst>
          </p:cNvPr>
          <p:cNvSpPr/>
          <p:nvPr/>
        </p:nvSpPr>
        <p:spPr>
          <a:xfrm>
            <a:off x="1968084" y="2381309"/>
            <a:ext cx="2342506" cy="457200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Question + write a plausible </a:t>
            </a:r>
          </a:p>
          <a:p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but factually incorrect answer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.</a:t>
            </a:r>
            <a:endParaRPr lang="en-US" sz="120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DF3A0B-8CB1-68B8-7AC9-4B10B4B646FA}"/>
              </a:ext>
            </a:extLst>
          </p:cNvPr>
          <p:cNvCxnSpPr>
            <a:cxnSpLocks/>
          </p:cNvCxnSpPr>
          <p:nvPr/>
        </p:nvCxnSpPr>
        <p:spPr>
          <a:xfrm rot="5400000" flipV="1">
            <a:off x="5829997" y="2433778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6035110-F2C2-B5D8-7CA8-34A95BAB129D}"/>
              </a:ext>
            </a:extLst>
          </p:cNvPr>
          <p:cNvSpPr/>
          <p:nvPr/>
        </p:nvSpPr>
        <p:spPr>
          <a:xfrm>
            <a:off x="6154305" y="2364439"/>
            <a:ext cx="1052895" cy="457200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rgbClr val="FF0000"/>
                </a:solidFill>
                <a:latin typeface="Helvetica" pitchFamily="2" charset="0"/>
              </a:rPr>
              <a:t>Hallucinated response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8C8B4F7-6401-7FA5-CF25-BF7C1062B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280" y="3799489"/>
            <a:ext cx="551297" cy="551297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9F54244-1457-8C40-D007-A59B69D3DF8E}"/>
              </a:ext>
            </a:extLst>
          </p:cNvPr>
          <p:cNvSpPr/>
          <p:nvPr/>
        </p:nvSpPr>
        <p:spPr>
          <a:xfrm>
            <a:off x="4942277" y="4344609"/>
            <a:ext cx="551297" cy="284679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Helvetica" pitchFamily="2" charset="0"/>
              </a:rPr>
              <a:t>LLM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1BA6AE-06D6-2095-4FEC-F4FCAEEDBD12}"/>
              </a:ext>
            </a:extLst>
          </p:cNvPr>
          <p:cNvCxnSpPr>
            <a:cxnSpLocks/>
          </p:cNvCxnSpPr>
          <p:nvPr/>
        </p:nvCxnSpPr>
        <p:spPr>
          <a:xfrm rot="5400000" flipV="1">
            <a:off x="4623011" y="3915118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381D62B-1734-83EF-7E20-6B22F4CD2332}"/>
              </a:ext>
            </a:extLst>
          </p:cNvPr>
          <p:cNvSpPr/>
          <p:nvPr/>
        </p:nvSpPr>
        <p:spPr>
          <a:xfrm>
            <a:off x="1968083" y="3850289"/>
            <a:ext cx="2342507" cy="457200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Questions pre-collected from previous datasets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7132EF-0115-2223-7577-6B19B63432CA}"/>
              </a:ext>
            </a:extLst>
          </p:cNvPr>
          <p:cNvCxnSpPr>
            <a:cxnSpLocks/>
          </p:cNvCxnSpPr>
          <p:nvPr/>
        </p:nvCxnSpPr>
        <p:spPr>
          <a:xfrm rot="5400000" flipV="1">
            <a:off x="5829997" y="3915118"/>
            <a:ext cx="0" cy="32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ADD93E2-F891-139B-12B5-C3B7312D5947}"/>
              </a:ext>
            </a:extLst>
          </p:cNvPr>
          <p:cNvSpPr/>
          <p:nvPr/>
        </p:nvSpPr>
        <p:spPr>
          <a:xfrm>
            <a:off x="6154305" y="3850289"/>
            <a:ext cx="1749293" cy="457200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rgbClr val="FF0000"/>
                </a:solidFill>
                <a:latin typeface="Helvetica" pitchFamily="2" charset="0"/>
              </a:rPr>
              <a:t>Hallucinated </a:t>
            </a:r>
            <a:r>
              <a:rPr lang="en-US" sz="1200">
                <a:solidFill>
                  <a:schemeClr val="tx1"/>
                </a:solidFill>
                <a:latin typeface="Helvetica" pitchFamily="2" charset="0"/>
              </a:rPr>
              <a:t>&amp;</a:t>
            </a:r>
            <a:r>
              <a:rPr lang="en-US" sz="1200">
                <a:solidFill>
                  <a:srgbClr val="FF0000"/>
                </a:solidFill>
                <a:latin typeface="Helvetica" pitchFamily="2" charset="0"/>
              </a:rPr>
              <a:t> </a:t>
            </a:r>
            <a:r>
              <a:rPr lang="en-US" sz="1200">
                <a:solidFill>
                  <a:schemeClr val="accent6"/>
                </a:solidFill>
                <a:latin typeface="Helvetica" pitchFamily="2" charset="0"/>
              </a:rPr>
              <a:t>Factual</a:t>
            </a:r>
            <a:r>
              <a:rPr lang="en-US" sz="1200">
                <a:solidFill>
                  <a:srgbClr val="FF0000"/>
                </a:solidFill>
                <a:latin typeface="Helvetica" pitchFamily="2" charset="0"/>
              </a:rPr>
              <a:t> </a:t>
            </a:r>
            <a:r>
              <a:rPr lang="en-US" sz="1200">
                <a:solidFill>
                  <a:schemeClr val="tx1"/>
                </a:solidFill>
                <a:latin typeface="Helvetica" pitchFamily="2" charset="0"/>
              </a:rPr>
              <a:t>responses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84495CB-399D-F445-2730-D7C7181192CC}"/>
              </a:ext>
            </a:extLst>
          </p:cNvPr>
          <p:cNvSpPr/>
          <p:nvPr/>
        </p:nvSpPr>
        <p:spPr>
          <a:xfrm>
            <a:off x="8980431" y="3850289"/>
            <a:ext cx="1050767" cy="457200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rgbClr val="FF0000"/>
                </a:solidFill>
                <a:latin typeface="Helvetica" pitchFamily="2" charset="0"/>
              </a:rPr>
              <a:t>Hallucinated responses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A6B9A75-5773-BB0A-9080-DDEE3AF20E3B}"/>
              </a:ext>
            </a:extLst>
          </p:cNvPr>
          <p:cNvCxnSpPr>
            <a:cxnSpLocks/>
          </p:cNvCxnSpPr>
          <p:nvPr/>
        </p:nvCxnSpPr>
        <p:spPr>
          <a:xfrm rot="5400000" flipV="1">
            <a:off x="8457929" y="3732236"/>
            <a:ext cx="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11385A7-46BA-BB07-CFFD-ABF2060A9C07}"/>
              </a:ext>
            </a:extLst>
          </p:cNvPr>
          <p:cNvSpPr/>
          <p:nvPr/>
        </p:nvSpPr>
        <p:spPr>
          <a:xfrm>
            <a:off x="8052920" y="3778345"/>
            <a:ext cx="731520" cy="284679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>filtering</a:t>
            </a:r>
            <a:endParaRPr lang="en-US" sz="1200" dirty="0"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A31EDA-509A-A8D7-33A0-38C81F41917F}"/>
              </a:ext>
            </a:extLst>
          </p:cNvPr>
          <p:cNvSpPr txBox="1"/>
          <p:nvPr/>
        </p:nvSpPr>
        <p:spPr>
          <a:xfrm>
            <a:off x="1040734" y="5076521"/>
            <a:ext cx="2053697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Research Gap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4501CC-2912-D7C2-647D-1C68F8FADCB7}"/>
              </a:ext>
            </a:extLst>
          </p:cNvPr>
          <p:cNvSpPr txBox="1"/>
          <p:nvPr/>
        </p:nvSpPr>
        <p:spPr>
          <a:xfrm>
            <a:off x="1558548" y="5458574"/>
            <a:ext cx="6109956" cy="307777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fontAlgn="ctr">
              <a:buSzPct val="160000"/>
            </a:pPr>
            <a:r>
              <a:rPr lang="en-US" sz="1400">
                <a:latin typeface="Helvetica" pitchFamily="2" charset="0"/>
                <a:cs typeface="Arial" panose="020B0604020202020204" pitchFamily="34" charset="0"/>
              </a:rPr>
              <a:t>Existing benchmarks are </a:t>
            </a:r>
            <a:r>
              <a:rPr lang="en-US" sz="1400" b="1">
                <a:latin typeface="Helvetica" pitchFamily="2" charset="0"/>
                <a:cs typeface="Arial" panose="020B0604020202020204" pitchFamily="34" charset="0"/>
              </a:rPr>
              <a:t>Not </a:t>
            </a:r>
            <a:r>
              <a:rPr lang="en-US" sz="1400">
                <a:latin typeface="Helvetica" pitchFamily="2" charset="0"/>
                <a:cs typeface="Arial" panose="020B0604020202020204" pitchFamily="34" charset="0"/>
              </a:rPr>
              <a:t>based on</a:t>
            </a:r>
            <a:r>
              <a:rPr lang="en-US" sz="1400" b="1">
                <a:latin typeface="Helvetica" pitchFamily="2" charset="0"/>
                <a:cs typeface="Arial" panose="020B0604020202020204" pitchFamily="34" charset="0"/>
              </a:rPr>
              <a:t> Authentic </a:t>
            </a:r>
            <a:r>
              <a:rPr lang="en-US" sz="1400">
                <a:latin typeface="Helvetica" pitchFamily="2" charset="0"/>
                <a:cs typeface="Arial" panose="020B0604020202020204" pitchFamily="34" charset="0"/>
              </a:rPr>
              <a:t>LLM-human interactions.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3B844-6D7B-4500-47E6-048EE82AFF19}"/>
              </a:ext>
            </a:extLst>
          </p:cNvPr>
          <p:cNvSpPr txBox="1"/>
          <p:nvPr/>
        </p:nvSpPr>
        <p:spPr>
          <a:xfrm>
            <a:off x="1558548" y="1897484"/>
            <a:ext cx="3226392" cy="307777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00000"/>
              <a:buFont typeface="Wingdings" pitchFamily="2" charset="2"/>
              <a:buChar char="Ø"/>
            </a:pPr>
            <a:r>
              <a:rPr lang="en-US" sz="1400" b="1">
                <a:latin typeface="Helvetica" pitchFamily="2" charset="0"/>
              </a:rPr>
              <a:t>Deliberately induced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1B035-5F04-D701-C8C1-D7D45A35A7D2}"/>
              </a:ext>
            </a:extLst>
          </p:cNvPr>
          <p:cNvSpPr txBox="1"/>
          <p:nvPr/>
        </p:nvSpPr>
        <p:spPr>
          <a:xfrm>
            <a:off x="1558548" y="3376498"/>
            <a:ext cx="3226392" cy="307777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00000"/>
              <a:buFont typeface="Wingdings" pitchFamily="2" charset="2"/>
              <a:buChar char="Ø"/>
            </a:pPr>
            <a:r>
              <a:rPr lang="en-US" sz="1400" b="1">
                <a:latin typeface="Helvetica" pitchFamily="2" charset="0"/>
              </a:rPr>
              <a:t>Simulated interactive generation</a:t>
            </a:r>
          </a:p>
        </p:txBody>
      </p:sp>
    </p:spTree>
    <p:extLst>
      <p:ext uri="{BB962C8B-B14F-4D97-AF65-F5344CB8AC3E}">
        <p14:creationId xmlns:p14="http://schemas.microsoft.com/office/powerpoint/2010/main" val="345271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CF58-D11B-3957-5A9B-C4FD81B1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90D61C-992F-ABFF-1373-A31FF2D084EE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A9BCCE-6507-6B60-5E48-353F63197E15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Research Background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2148E3-951C-5081-D1DE-8C230D197F58}"/>
              </a:ext>
            </a:extLst>
          </p:cNvPr>
          <p:cNvSpPr txBox="1"/>
          <p:nvPr/>
        </p:nvSpPr>
        <p:spPr>
          <a:xfrm>
            <a:off x="1332474" y="1442956"/>
            <a:ext cx="4657617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What is authentic LLM-human interaction?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3DD87-E3B4-17DD-ADC8-442B468F71ED}"/>
              </a:ext>
            </a:extLst>
          </p:cNvPr>
          <p:cNvSpPr txBox="1"/>
          <p:nvPr/>
        </p:nvSpPr>
        <p:spPr>
          <a:xfrm>
            <a:off x="1795052" y="1721989"/>
            <a:ext cx="4237430" cy="1015663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Naturally</a:t>
            </a:r>
            <a:r>
              <a:rPr lang="en-US" sz="1400">
                <a:latin typeface="Helvetica" pitchFamily="2" charset="0"/>
                <a:cs typeface="Arial" panose="020B0604020202020204" pitchFamily="34" charset="0"/>
              </a:rPr>
              <a:t> occur between humans and LLMs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>
                <a:latin typeface="Helvetica" pitchFamily="2" charset="0"/>
                <a:cs typeface="Arial" panose="020B0604020202020204" pitchFamily="34" charset="0"/>
              </a:rPr>
              <a:t>Emerge </a:t>
            </a: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organically</a:t>
            </a:r>
            <a:r>
              <a:rPr lang="en-US" sz="1400">
                <a:latin typeface="Helvetica" pitchFamily="2" charset="0"/>
                <a:cs typeface="Arial" panose="020B0604020202020204" pitchFamily="34" charset="0"/>
              </a:rPr>
              <a:t> without artificial induction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>
                <a:latin typeface="Helvetica" pitchFamily="2" charset="0"/>
              </a:rPr>
              <a:t>Arise in </a:t>
            </a: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real-world</a:t>
            </a:r>
            <a:r>
              <a:rPr lang="en-US" sz="1400">
                <a:latin typeface="Helvetica" pitchFamily="2" charset="0"/>
              </a:rPr>
              <a:t> usage scenarios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3AB02-775F-0178-65F3-297671F6ECF7}"/>
              </a:ext>
            </a:extLst>
          </p:cNvPr>
          <p:cNvSpPr txBox="1"/>
          <p:nvPr/>
        </p:nvSpPr>
        <p:spPr>
          <a:xfrm>
            <a:off x="1332474" y="4675883"/>
            <a:ext cx="4426069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Why is authentic interaction important?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855A00-901F-D504-1877-296477285138}"/>
              </a:ext>
            </a:extLst>
          </p:cNvPr>
          <p:cNvSpPr txBox="1"/>
          <p:nvPr/>
        </p:nvSpPr>
        <p:spPr>
          <a:xfrm>
            <a:off x="1795052" y="4953877"/>
            <a:ext cx="5926950" cy="1015663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28575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>
                <a:latin typeface="Helvetica" pitchFamily="2" charset="0"/>
              </a:rPr>
              <a:t>Reflect </a:t>
            </a: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real human intent </a:t>
            </a:r>
            <a:r>
              <a:rPr lang="en-US" sz="1400">
                <a:latin typeface="Helvetica" pitchFamily="2" charset="0"/>
              </a:rPr>
              <a:t>distribution</a:t>
            </a:r>
          </a:p>
          <a:p>
            <a:pPr marL="28575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>
                <a:latin typeface="Helvetica" pitchFamily="2" charset="0"/>
              </a:rPr>
              <a:t>Reveal </a:t>
            </a: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true model behavior </a:t>
            </a:r>
            <a:r>
              <a:rPr lang="en-US" sz="1400">
                <a:latin typeface="Helvetica" pitchFamily="2" charset="0"/>
              </a:rPr>
              <a:t>in practice</a:t>
            </a:r>
          </a:p>
          <a:p>
            <a:pPr marL="28575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>
                <a:latin typeface="Helvetica" pitchFamily="2" charset="0"/>
              </a:rPr>
              <a:t>Enable </a:t>
            </a: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more faithful evaluation </a:t>
            </a:r>
            <a:r>
              <a:rPr lang="en-US" sz="1400">
                <a:latin typeface="Helvetica" pitchFamily="2" charset="0"/>
              </a:rPr>
              <a:t>of hallucination detection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DB119-EEE7-24DD-00E5-BE56B52245E8}"/>
              </a:ext>
            </a:extLst>
          </p:cNvPr>
          <p:cNvSpPr txBox="1"/>
          <p:nvPr/>
        </p:nvSpPr>
        <p:spPr>
          <a:xfrm>
            <a:off x="1332474" y="3212049"/>
            <a:ext cx="4426069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Existing benchmarks are NOT authentic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4819B-674E-7F2A-230B-695A701A8C86}"/>
              </a:ext>
            </a:extLst>
          </p:cNvPr>
          <p:cNvSpPr txBox="1"/>
          <p:nvPr/>
        </p:nvSpPr>
        <p:spPr>
          <a:xfrm>
            <a:off x="1795051" y="3493600"/>
            <a:ext cx="6272421" cy="707886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28575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Artificial prompts</a:t>
            </a:r>
            <a:r>
              <a:rPr lang="en-US" sz="1400">
                <a:latin typeface="Helvetica" pitchFamily="2" charset="0"/>
              </a:rPr>
              <a:t>, e.g., “write a plausible but factually</a:t>
            </a:r>
            <a:r>
              <a:rPr lang="zh-CN" altLang="en-US" sz="1400">
                <a:latin typeface="Helvetica" pitchFamily="2" charset="0"/>
              </a:rPr>
              <a:t> </a:t>
            </a:r>
            <a:r>
              <a:rPr lang="en-US" altLang="zh-CN" sz="1400">
                <a:latin typeface="Helvetica" pitchFamily="2" charset="0"/>
              </a:rPr>
              <a:t>incorrect</a:t>
            </a:r>
            <a:r>
              <a:rPr lang="en-US" sz="1400">
                <a:latin typeface="Helvetica" pitchFamily="2" charset="0"/>
              </a:rPr>
              <a:t> answer.”</a:t>
            </a:r>
          </a:p>
          <a:p>
            <a:pPr marL="28575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Pre-collected queries</a:t>
            </a:r>
            <a:r>
              <a:rPr lang="de-DE" sz="1400">
                <a:latin typeface="Helvetica" pitchFamily="2" charset="0"/>
              </a:rPr>
              <a:t>,</a:t>
            </a:r>
            <a:r>
              <a:rPr lang="en-US" sz="1400">
                <a:latin typeface="Helvetica" pitchFamily="2" charset="0"/>
              </a:rPr>
              <a:t> artificial and homogeneous</a:t>
            </a:r>
          </a:p>
        </p:txBody>
      </p:sp>
    </p:spTree>
    <p:extLst>
      <p:ext uri="{BB962C8B-B14F-4D97-AF65-F5344CB8AC3E}">
        <p14:creationId xmlns:p14="http://schemas.microsoft.com/office/powerpoint/2010/main" val="367162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649F-9986-7EE7-B545-A5D14C4A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98D179-2EF3-C33F-9B89-643A4C04EE5B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9C449E1-C253-76E4-B686-327142F9A327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Table of Contents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6B7A7-F75B-DDDD-FDB2-F7DEE9613EF0}"/>
              </a:ext>
            </a:extLst>
          </p:cNvPr>
          <p:cNvSpPr txBox="1"/>
          <p:nvPr/>
        </p:nvSpPr>
        <p:spPr>
          <a:xfrm>
            <a:off x="2457871" y="2179696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1.  Research Background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1E00F-FA7F-686C-1D64-1C974B21780D}"/>
              </a:ext>
            </a:extLst>
          </p:cNvPr>
          <p:cNvSpPr txBox="1"/>
          <p:nvPr/>
        </p:nvSpPr>
        <p:spPr>
          <a:xfrm>
            <a:off x="2457871" y="2955828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2.  AuthenHallu Benchmark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FD841D-BD15-8064-F01A-76A9058D56A9}"/>
              </a:ext>
            </a:extLst>
          </p:cNvPr>
          <p:cNvSpPr txBox="1"/>
          <p:nvPr/>
        </p:nvSpPr>
        <p:spPr>
          <a:xfrm>
            <a:off x="2457871" y="3731960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3.  Experiments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F05B9-8525-5D42-8C89-0722115B0537}"/>
              </a:ext>
            </a:extLst>
          </p:cNvPr>
          <p:cNvSpPr txBox="1"/>
          <p:nvPr/>
        </p:nvSpPr>
        <p:spPr>
          <a:xfrm>
            <a:off x="2457871" y="4508091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4.  Conclusion &amp; Limitations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884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BBF0-29B8-E167-1CF0-E8E17430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853014-C3B0-22A5-D91D-5657FE0F5FB9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604CAC-94C5-015A-8F4E-8EE2D6596318}"/>
              </a:ext>
            </a:extLst>
          </p:cNvPr>
          <p:cNvSpPr txBox="1"/>
          <p:nvPr/>
        </p:nvSpPr>
        <p:spPr>
          <a:xfrm>
            <a:off x="527713" y="326303"/>
            <a:ext cx="5829544" cy="456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AuthenHallu Construction Procedure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D782BC-FBED-D046-4D53-2561EEDA1AEC}"/>
              </a:ext>
            </a:extLst>
          </p:cNvPr>
          <p:cNvSpPr/>
          <p:nvPr/>
        </p:nvSpPr>
        <p:spPr>
          <a:xfrm>
            <a:off x="1751067" y="1486156"/>
            <a:ext cx="2185416" cy="638862"/>
          </a:xfrm>
          <a:prstGeom prst="roundRect">
            <a:avLst>
              <a:gd name="adj" fmla="val 10232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LMSYS-Chat-1M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B3CA86-7BAD-ED8E-6491-385E53EEB6CE}"/>
              </a:ext>
            </a:extLst>
          </p:cNvPr>
          <p:cNvSpPr/>
          <p:nvPr/>
        </p:nvSpPr>
        <p:spPr>
          <a:xfrm>
            <a:off x="1744019" y="3415715"/>
            <a:ext cx="2188937" cy="638862"/>
          </a:xfrm>
          <a:prstGeom prst="roundRect">
            <a:avLst>
              <a:gd name="adj" fmla="val 10232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400 two-turn dialogues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2EFCB82-D6E7-1034-9A72-5F9A990EC507}"/>
              </a:ext>
            </a:extLst>
          </p:cNvPr>
          <p:cNvSpPr/>
          <p:nvPr/>
        </p:nvSpPr>
        <p:spPr>
          <a:xfrm>
            <a:off x="1744019" y="5447839"/>
            <a:ext cx="2185411" cy="638862"/>
          </a:xfrm>
          <a:prstGeom prst="roundRect">
            <a:avLst>
              <a:gd name="adj" fmla="val 1023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Helvetica" pitchFamily="2" charset="0"/>
              </a:rPr>
              <a:t>400</a:t>
            </a:r>
            <a:r>
              <a:rPr lang="zh-CN" altLang="en-US" sz="1400" b="1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lang="en-US" altLang="zh-CN" sz="1400" b="1">
                <a:solidFill>
                  <a:schemeClr val="tx1"/>
                </a:solidFill>
                <a:latin typeface="Helvetica" pitchFamily="2" charset="0"/>
              </a:rPr>
              <a:t>dialogues</a:t>
            </a:r>
            <a:br>
              <a:rPr lang="en-US" sz="1400" b="1">
                <a:solidFill>
                  <a:schemeClr val="tx1"/>
                </a:solidFill>
                <a:latin typeface="Helvetica" pitchFamily="2" charset="0"/>
              </a:rPr>
            </a:br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with labels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753503B-393D-3EAA-B5BF-63558E69BEFB}"/>
              </a:ext>
            </a:extLst>
          </p:cNvPr>
          <p:cNvSpPr/>
          <p:nvPr/>
        </p:nvSpPr>
        <p:spPr>
          <a:xfrm>
            <a:off x="2051873" y="6148572"/>
            <a:ext cx="1583803" cy="284679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Helvetica" pitchFamily="2" charset="0"/>
              </a:rPr>
              <a:t>AuthenHallu</a:t>
            </a:r>
            <a:endParaRPr lang="en-US" sz="1200" b="1" dirty="0"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4B7FD-DEE3-AD9D-07DE-57EEA97D66B1}"/>
              </a:ext>
            </a:extLst>
          </p:cNvPr>
          <p:cNvSpPr txBox="1"/>
          <p:nvPr/>
        </p:nvSpPr>
        <p:spPr>
          <a:xfrm>
            <a:off x="5662282" y="3411421"/>
            <a:ext cx="1572525" cy="15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80"/>
              </a:lnSpc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Each Dialogue</a:t>
            </a:r>
          </a:p>
          <a:p>
            <a:pPr>
              <a:lnSpc>
                <a:spcPts val="880"/>
              </a:lnSpc>
            </a:pP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Query 1:  xxx</a:t>
            </a:r>
          </a:p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Response 1:  xxx</a:t>
            </a:r>
          </a:p>
          <a:p>
            <a:pPr>
              <a:lnSpc>
                <a:spcPts val="880"/>
              </a:lnSpc>
            </a:pP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Query 2:  xxx</a:t>
            </a:r>
          </a:p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Response 2:  xxx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9C57BA2-CCF6-B709-4414-354C55E874E4}"/>
              </a:ext>
            </a:extLst>
          </p:cNvPr>
          <p:cNvSpPr/>
          <p:nvPr/>
        </p:nvSpPr>
        <p:spPr>
          <a:xfrm>
            <a:off x="7234807" y="3867064"/>
            <a:ext cx="182880" cy="412409"/>
          </a:xfrm>
          <a:prstGeom prst="rightBrace">
            <a:avLst>
              <a:gd name="adj1" fmla="val 21721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E40D9C-16B9-45F7-5589-D2EE60E392EF}"/>
              </a:ext>
            </a:extLst>
          </p:cNvPr>
          <p:cNvSpPr txBox="1"/>
          <p:nvPr/>
        </p:nvSpPr>
        <p:spPr>
          <a:xfrm>
            <a:off x="7427623" y="3910499"/>
            <a:ext cx="2500722" cy="325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80"/>
              </a:lnSpc>
            </a:pPr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 or No Hallu?   Type of hallu?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B105A6B-EF9F-AEB8-0261-AE9086B6482A}"/>
              </a:ext>
            </a:extLst>
          </p:cNvPr>
          <p:cNvSpPr/>
          <p:nvPr/>
        </p:nvSpPr>
        <p:spPr>
          <a:xfrm>
            <a:off x="7234807" y="4533794"/>
            <a:ext cx="182880" cy="412409"/>
          </a:xfrm>
          <a:prstGeom prst="rightBrace">
            <a:avLst>
              <a:gd name="adj1" fmla="val 21721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108298-FEF4-EF02-5C4F-675132F55A9F}"/>
              </a:ext>
            </a:extLst>
          </p:cNvPr>
          <p:cNvSpPr txBox="1"/>
          <p:nvPr/>
        </p:nvSpPr>
        <p:spPr>
          <a:xfrm>
            <a:off x="7427623" y="4577229"/>
            <a:ext cx="2500722" cy="325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80"/>
              </a:lnSpc>
            </a:pPr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 or No Hallu?   Type of hallu?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6E3D8-D657-D5EC-8521-B850B78D8924}"/>
              </a:ext>
            </a:extLst>
          </p:cNvPr>
          <p:cNvSpPr txBox="1"/>
          <p:nvPr/>
        </p:nvSpPr>
        <p:spPr>
          <a:xfrm>
            <a:off x="5662282" y="1486156"/>
            <a:ext cx="5028307" cy="909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80"/>
              </a:lnSpc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LMSYS-Chat-1M:</a:t>
            </a:r>
          </a:p>
          <a:p>
            <a:pPr>
              <a:lnSpc>
                <a:spcPts val="21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1 million real-world dialogues between humans and 25 LLMs</a:t>
            </a:r>
          </a:p>
          <a:p>
            <a:pPr>
              <a:lnSpc>
                <a:spcPts val="21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from April to August 2023.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81DFC8-6E4F-D03A-8A9D-6856076049B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01229" y="2221726"/>
            <a:ext cx="0" cy="10972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34E0950-E4BB-40FF-0A3F-00A263407AD1}"/>
              </a:ext>
            </a:extLst>
          </p:cNvPr>
          <p:cNvSpPr/>
          <p:nvPr/>
        </p:nvSpPr>
        <p:spPr>
          <a:xfrm>
            <a:off x="2842014" y="2415766"/>
            <a:ext cx="1856228" cy="638862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Stage 1</a:t>
            </a:r>
          </a:p>
          <a:p>
            <a:pPr>
              <a:lnSpc>
                <a:spcPts val="2000"/>
              </a:lnSpc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Dialogue Selection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FB7F2E-6128-4718-2E77-BCBDD31533C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01228" y="4202568"/>
            <a:ext cx="0" cy="10972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2EA4262-E564-ABFC-ACFB-F5129E750595}"/>
              </a:ext>
            </a:extLst>
          </p:cNvPr>
          <p:cNvSpPr/>
          <p:nvPr/>
        </p:nvSpPr>
        <p:spPr>
          <a:xfrm>
            <a:off x="2801228" y="4401127"/>
            <a:ext cx="1856228" cy="638862"/>
          </a:xfrm>
          <a:prstGeom prst="roundRect">
            <a:avLst>
              <a:gd name="adj" fmla="val 10232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Helvetica" pitchFamily="2" charset="0"/>
              </a:rPr>
              <a:t>Stage 2</a:t>
            </a:r>
          </a:p>
          <a:p>
            <a:pPr>
              <a:lnSpc>
                <a:spcPts val="2000"/>
              </a:lnSpc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Human Annotation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501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556A-F7E4-7751-D93C-25403C5A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6C2345-A8FB-E370-3871-9C4B476D0E5D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D736D2-862B-2E27-FB81-6BB5B2FF5841}"/>
              </a:ext>
            </a:extLst>
          </p:cNvPr>
          <p:cNvSpPr txBox="1"/>
          <p:nvPr/>
        </p:nvSpPr>
        <p:spPr>
          <a:xfrm>
            <a:off x="527712" y="326303"/>
            <a:ext cx="4632329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Stage 1: Dialogue Selection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13C7A-E5FC-EC4F-CB20-6D9563FEC786}"/>
              </a:ext>
            </a:extLst>
          </p:cNvPr>
          <p:cNvSpPr txBox="1">
            <a:spLocks/>
          </p:cNvSpPr>
          <p:nvPr/>
        </p:nvSpPr>
        <p:spPr>
          <a:xfrm>
            <a:off x="1328585" y="1795281"/>
            <a:ext cx="3281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①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Retain only </a:t>
            </a:r>
            <a:r>
              <a:rPr lang="en-US" altLang="zh-CN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dialogues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F5705C-1670-7CF3-7B01-912A859F2DF8}"/>
              </a:ext>
            </a:extLst>
          </p:cNvPr>
          <p:cNvSpPr txBox="1">
            <a:spLocks/>
          </p:cNvSpPr>
          <p:nvPr/>
        </p:nvSpPr>
        <p:spPr>
          <a:xfrm>
            <a:off x="1323683" y="3759019"/>
            <a:ext cx="3836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⑥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Remove </a:t>
            </a:r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incomplete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dialogues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08D27B-52CD-B64B-FDD1-26C95CF3EB69}"/>
              </a:ext>
            </a:extLst>
          </p:cNvPr>
          <p:cNvSpPr txBox="1">
            <a:spLocks/>
          </p:cNvSpPr>
          <p:nvPr/>
        </p:nvSpPr>
        <p:spPr>
          <a:xfrm>
            <a:off x="1328585" y="2188029"/>
            <a:ext cx="367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②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Remove dialogues with </a:t>
            </a:r>
            <a:r>
              <a:rPr lang="en-US" altLang="zh-CN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redacted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content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A0BE3-F8F1-279A-5C47-873304A288C9}"/>
              </a:ext>
            </a:extLst>
          </p:cNvPr>
          <p:cNvSpPr txBox="1">
            <a:spLocks/>
          </p:cNvSpPr>
          <p:nvPr/>
        </p:nvSpPr>
        <p:spPr>
          <a:xfrm>
            <a:off x="1328585" y="2580777"/>
            <a:ext cx="3285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③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Retain only </a:t>
            </a:r>
            <a:r>
              <a:rPr lang="en-US" altLang="zh-CN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two-turn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dialogues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9125BB-0920-F291-22D5-9D70BB132AD2}"/>
              </a:ext>
            </a:extLst>
          </p:cNvPr>
          <p:cNvSpPr txBox="1">
            <a:spLocks/>
          </p:cNvSpPr>
          <p:nvPr/>
        </p:nvSpPr>
        <p:spPr>
          <a:xfrm>
            <a:off x="1336332" y="2973525"/>
            <a:ext cx="3194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④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Remove </a:t>
            </a:r>
            <a:r>
              <a:rPr lang="en-US" altLang="zh-CN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unsafe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zh-CN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toxic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dialogues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EAE62-684D-A33D-D9C9-C155431C0724}"/>
              </a:ext>
            </a:extLst>
          </p:cNvPr>
          <p:cNvSpPr txBox="1">
            <a:spLocks/>
          </p:cNvSpPr>
          <p:nvPr/>
        </p:nvSpPr>
        <p:spPr>
          <a:xfrm>
            <a:off x="1328585" y="3366273"/>
            <a:ext cx="4211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Arial" panose="020B0604020202020204" pitchFamily="34" charset="0"/>
                <a:cs typeface="Arial" panose="020B0604020202020204" pitchFamily="34" charset="0"/>
              </a:rPr>
              <a:t>⑤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Remove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queries outside the </a:t>
            </a:r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3 - 156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word range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BBBAE7-3FA5-6CDE-0DEE-ECAEE1917669}"/>
              </a:ext>
            </a:extLst>
          </p:cNvPr>
          <p:cNvGrpSpPr/>
          <p:nvPr/>
        </p:nvGrpSpPr>
        <p:grpSpPr>
          <a:xfrm>
            <a:off x="1500957" y="4431295"/>
            <a:ext cx="2215272" cy="500193"/>
            <a:chOff x="1562022" y="5094263"/>
            <a:chExt cx="2215272" cy="50019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3C2A66-F074-3E81-55A8-6134445D9F20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636258" y="4917151"/>
              <a:ext cx="0" cy="10058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EEF14C0C-ACD4-2F15-CD27-26010658F316}"/>
                </a:ext>
              </a:extLst>
            </p:cNvPr>
            <p:cNvSpPr/>
            <p:nvPr/>
          </p:nvSpPr>
          <p:spPr>
            <a:xfrm>
              <a:off x="2079437" y="5094263"/>
              <a:ext cx="1079636" cy="296941"/>
            </a:xfrm>
            <a:prstGeom prst="roundRect">
              <a:avLst>
                <a:gd name="adj" fmla="val 10232"/>
              </a:avLst>
            </a:prstGeom>
            <a:noFill/>
            <a:ln w="1270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effectLst/>
                  <a:latin typeface="Helvetica" pitchFamily="2" charset="0"/>
                </a:rPr>
                <a:t>filtration</a:t>
              </a:r>
              <a:endParaRPr lang="en-US" sz="1100" b="1" dirty="0">
                <a:solidFill>
                  <a:schemeClr val="tx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C90D16-1B55-9BBD-E96D-1CD5AE0B0AE0}"/>
                </a:ext>
              </a:extLst>
            </p:cNvPr>
            <p:cNvSpPr txBox="1">
              <a:spLocks/>
            </p:cNvSpPr>
            <p:nvPr/>
          </p:nvSpPr>
          <p:spPr>
            <a:xfrm>
              <a:off x="1562022" y="5212438"/>
              <a:ext cx="478854" cy="379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ts val="2500"/>
                </a:lnSpc>
              </a:pPr>
              <a:r>
                <a:rPr 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1M</a:t>
              </a:r>
              <a:endParaRPr lang="en-US" sz="16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3CB3CD-1CAB-DFEB-E99A-ABC6A6045F74}"/>
                </a:ext>
              </a:extLst>
            </p:cNvPr>
            <p:cNvSpPr txBox="1">
              <a:spLocks/>
            </p:cNvSpPr>
            <p:nvPr/>
          </p:nvSpPr>
          <p:spPr>
            <a:xfrm>
              <a:off x="3197634" y="5214993"/>
              <a:ext cx="579660" cy="379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lnSpc>
                  <a:spcPts val="2500"/>
                </a:lnSpc>
              </a:pPr>
              <a:r>
                <a:rPr 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48K</a:t>
              </a:r>
              <a:endParaRPr lang="en-US" sz="16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44324AF-118A-FEC3-8B18-9D25115DBFC9}"/>
              </a:ext>
            </a:extLst>
          </p:cNvPr>
          <p:cNvSpPr/>
          <p:nvPr/>
        </p:nvSpPr>
        <p:spPr>
          <a:xfrm>
            <a:off x="6640628" y="1792819"/>
            <a:ext cx="2271859" cy="397807"/>
          </a:xfrm>
          <a:prstGeom prst="roundRect">
            <a:avLst>
              <a:gd name="adj" fmla="val 9896"/>
            </a:avLst>
          </a:prstGeom>
          <a:solidFill>
            <a:srgbClr val="DEEBFA"/>
          </a:solidFill>
          <a:ln w="28575">
            <a:solidFill>
              <a:srgbClr val="DEE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48K two-turn dialogues</a:t>
            </a:r>
            <a:endParaRPr lang="de-D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F216DBD-8A9B-621F-8A6F-7805F22B5254}"/>
              </a:ext>
            </a:extLst>
          </p:cNvPr>
          <p:cNvCxnSpPr>
            <a:cxnSpLocks/>
          </p:cNvCxnSpPr>
          <p:nvPr/>
        </p:nvCxnSpPr>
        <p:spPr>
          <a:xfrm>
            <a:off x="7763854" y="2273000"/>
            <a:ext cx="0" cy="393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6F56D60-EC9D-0CC8-52BD-31264ACB7DDC}"/>
              </a:ext>
            </a:extLst>
          </p:cNvPr>
          <p:cNvSpPr txBox="1">
            <a:spLocks/>
          </p:cNvSpPr>
          <p:nvPr/>
        </p:nvSpPr>
        <p:spPr>
          <a:xfrm>
            <a:off x="7826675" y="2304598"/>
            <a:ext cx="2523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encode all queries with sentence-bert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76A5DB8-D554-D16F-F278-679CBF5315C7}"/>
              </a:ext>
            </a:extLst>
          </p:cNvPr>
          <p:cNvSpPr/>
          <p:nvPr/>
        </p:nvSpPr>
        <p:spPr>
          <a:xfrm>
            <a:off x="6640628" y="2751162"/>
            <a:ext cx="1086404" cy="388239"/>
          </a:xfrm>
          <a:prstGeom prst="roundRect">
            <a:avLst>
              <a:gd name="adj" fmla="val 989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query1 embeddings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FF6A2C5-A42A-1877-B9C9-AC41AA9715C7}"/>
              </a:ext>
            </a:extLst>
          </p:cNvPr>
          <p:cNvSpPr/>
          <p:nvPr/>
        </p:nvSpPr>
        <p:spPr>
          <a:xfrm>
            <a:off x="7826090" y="2751161"/>
            <a:ext cx="1086404" cy="388239"/>
          </a:xfrm>
          <a:prstGeom prst="roundRect">
            <a:avLst>
              <a:gd name="adj" fmla="val 989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query2 embeddings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D9F295-D68B-F7FA-0432-5BA407C0E1CF}"/>
              </a:ext>
            </a:extLst>
          </p:cNvPr>
          <p:cNvCxnSpPr>
            <a:cxnSpLocks/>
          </p:cNvCxnSpPr>
          <p:nvPr/>
        </p:nvCxnSpPr>
        <p:spPr>
          <a:xfrm>
            <a:off x="7183338" y="3255475"/>
            <a:ext cx="0" cy="393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61FBF2-F247-53D9-BE7A-B0D269D3F37F}"/>
              </a:ext>
            </a:extLst>
          </p:cNvPr>
          <p:cNvCxnSpPr>
            <a:cxnSpLocks/>
          </p:cNvCxnSpPr>
          <p:nvPr/>
        </p:nvCxnSpPr>
        <p:spPr>
          <a:xfrm>
            <a:off x="8368800" y="3255475"/>
            <a:ext cx="0" cy="393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8524A06-BC6E-F61E-2692-72CDE1D9D447}"/>
              </a:ext>
            </a:extLst>
          </p:cNvPr>
          <p:cNvSpPr txBox="1">
            <a:spLocks/>
          </p:cNvSpPr>
          <p:nvPr/>
        </p:nvSpPr>
        <p:spPr>
          <a:xfrm>
            <a:off x="7336384" y="3316743"/>
            <a:ext cx="8793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A8B089-24B4-FF1D-D806-0F27C4C2E023}"/>
              </a:ext>
            </a:extLst>
          </p:cNvPr>
          <p:cNvSpPr/>
          <p:nvPr/>
        </p:nvSpPr>
        <p:spPr>
          <a:xfrm>
            <a:off x="6640628" y="3759020"/>
            <a:ext cx="1086404" cy="388239"/>
          </a:xfrm>
          <a:prstGeom prst="roundRect">
            <a:avLst>
              <a:gd name="adj" fmla="val 989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45 clusters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AC55AC0-1F38-76C2-EFF1-546C73072DC9}"/>
              </a:ext>
            </a:extLst>
          </p:cNvPr>
          <p:cNvSpPr/>
          <p:nvPr/>
        </p:nvSpPr>
        <p:spPr>
          <a:xfrm>
            <a:off x="7826090" y="3759019"/>
            <a:ext cx="1086404" cy="388239"/>
          </a:xfrm>
          <a:prstGeom prst="roundRect">
            <a:avLst>
              <a:gd name="adj" fmla="val 989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query2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20 clusters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AD7D2-3C55-1D4D-E032-2AF162741846}"/>
              </a:ext>
            </a:extLst>
          </p:cNvPr>
          <p:cNvSpPr txBox="1">
            <a:spLocks/>
          </p:cNvSpPr>
          <p:nvPr/>
        </p:nvSpPr>
        <p:spPr>
          <a:xfrm>
            <a:off x="8368801" y="3318493"/>
            <a:ext cx="54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k=20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9B032A-9DDA-EB3A-C31C-5E2C68A73D6D}"/>
              </a:ext>
            </a:extLst>
          </p:cNvPr>
          <p:cNvSpPr txBox="1">
            <a:spLocks/>
          </p:cNvSpPr>
          <p:nvPr/>
        </p:nvSpPr>
        <p:spPr>
          <a:xfrm>
            <a:off x="6683242" y="3321196"/>
            <a:ext cx="5427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k=45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A5FEF8-68B2-BBEA-6A04-763DF35BA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542" y="4373060"/>
            <a:ext cx="438623" cy="4386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8B08D3-9723-C209-3247-C58DD9E236C1}"/>
              </a:ext>
            </a:extLst>
          </p:cNvPr>
          <p:cNvSpPr txBox="1">
            <a:spLocks/>
          </p:cNvSpPr>
          <p:nvPr/>
        </p:nvSpPr>
        <p:spPr>
          <a:xfrm>
            <a:off x="7928660" y="4403270"/>
            <a:ext cx="24215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fictional content generation, </a:t>
            </a:r>
          </a:p>
          <a:p>
            <a:pPr fontAlgn="base"/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story generation, code generation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D8529FD-A589-6DF6-35DB-F6AB0679D86B}"/>
              </a:ext>
            </a:extLst>
          </p:cNvPr>
          <p:cNvSpPr/>
          <p:nvPr/>
        </p:nvSpPr>
        <p:spPr>
          <a:xfrm>
            <a:off x="6640628" y="4991465"/>
            <a:ext cx="2271859" cy="397807"/>
          </a:xfrm>
          <a:prstGeom prst="roundRect">
            <a:avLst>
              <a:gd name="adj" fmla="val 9896"/>
            </a:avLst>
          </a:prstGeom>
          <a:solidFill>
            <a:srgbClr val="DEEBFA"/>
          </a:solidFill>
          <a:ln w="28575">
            <a:solidFill>
              <a:srgbClr val="DEE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25584 dialogues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24 clusters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060EB31-4DB9-16F0-BA3F-F88B1ECD655E}"/>
              </a:ext>
            </a:extLst>
          </p:cNvPr>
          <p:cNvSpPr/>
          <p:nvPr/>
        </p:nvSpPr>
        <p:spPr>
          <a:xfrm>
            <a:off x="6627923" y="5965442"/>
            <a:ext cx="2271859" cy="397807"/>
          </a:xfrm>
          <a:prstGeom prst="roundRect">
            <a:avLst>
              <a:gd name="adj" fmla="val 9896"/>
            </a:avLst>
          </a:prstGeom>
          <a:solidFill>
            <a:srgbClr val="DEEBFA"/>
          </a:solidFill>
          <a:ln w="28575">
            <a:solidFill>
              <a:srgbClr val="DEEB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 dialogues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E1D621-27E9-65F5-F39C-7C2602AC4F44}"/>
              </a:ext>
            </a:extLst>
          </p:cNvPr>
          <p:cNvCxnSpPr>
            <a:cxnSpLocks/>
          </p:cNvCxnSpPr>
          <p:nvPr/>
        </p:nvCxnSpPr>
        <p:spPr>
          <a:xfrm>
            <a:off x="7763853" y="5480677"/>
            <a:ext cx="0" cy="393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67F51E7-CEF8-54B8-4C7F-93D21951B86C}"/>
              </a:ext>
            </a:extLst>
          </p:cNvPr>
          <p:cNvSpPr txBox="1">
            <a:spLocks/>
          </p:cNvSpPr>
          <p:nvPr/>
        </p:nvSpPr>
        <p:spPr>
          <a:xfrm>
            <a:off x="7826090" y="5536629"/>
            <a:ext cx="16109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extract proportionally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16D75E-1A42-CD1E-B33F-34890AE2E8AF}"/>
              </a:ext>
            </a:extLst>
          </p:cNvPr>
          <p:cNvSpPr txBox="1"/>
          <p:nvPr/>
        </p:nvSpPr>
        <p:spPr>
          <a:xfrm>
            <a:off x="1088553" y="1317562"/>
            <a:ext cx="3455240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Stage 1.1:  Dialogue Filtration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E0D7C1-512F-CAFF-B9A3-5FE50331120B}"/>
              </a:ext>
            </a:extLst>
          </p:cNvPr>
          <p:cNvSpPr txBox="1"/>
          <p:nvPr/>
        </p:nvSpPr>
        <p:spPr>
          <a:xfrm>
            <a:off x="6201041" y="1323812"/>
            <a:ext cx="3455240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Stage 1.2:  Dialogue Extraction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41C5026-2090-BD8A-CC11-B28F224E55E0}"/>
              </a:ext>
            </a:extLst>
          </p:cNvPr>
          <p:cNvCxnSpPr>
            <a:cxnSpLocks/>
          </p:cNvCxnSpPr>
          <p:nvPr/>
        </p:nvCxnSpPr>
        <p:spPr>
          <a:xfrm flipH="1">
            <a:off x="9082557" y="3952319"/>
            <a:ext cx="91440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BEB258-73A2-BFFD-4840-8DD01124880D}"/>
              </a:ext>
            </a:extLst>
          </p:cNvPr>
          <p:cNvSpPr txBox="1">
            <a:spLocks/>
          </p:cNvSpPr>
          <p:nvPr/>
        </p:nvSpPr>
        <p:spPr>
          <a:xfrm>
            <a:off x="9153302" y="3664206"/>
            <a:ext cx="867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de-DE" sz="1100">
                <a:latin typeface="Arial" panose="020B0604020202020204" pitchFamily="34" charset="0"/>
                <a:cs typeface="Arial" panose="020B0604020202020204" pitchFamily="34" charset="0"/>
              </a:rPr>
              <a:t>topic name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CF01A9-8115-0FB1-32BC-E56DFC1E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044" y="3789089"/>
            <a:ext cx="261610" cy="2616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7374B7-69B8-09A4-BD34-36E68E09B972}"/>
              </a:ext>
            </a:extLst>
          </p:cNvPr>
          <p:cNvSpPr txBox="1">
            <a:spLocks/>
          </p:cNvSpPr>
          <p:nvPr/>
        </p:nvSpPr>
        <p:spPr>
          <a:xfrm>
            <a:off x="9915586" y="4030183"/>
            <a:ext cx="6725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de-DE" sz="1100">
                <a:latin typeface="Arial" panose="020B0604020202020204" pitchFamily="34" charset="0"/>
                <a:cs typeface="Arial" panose="020B0604020202020204" pitchFamily="34" charset="0"/>
              </a:rPr>
              <a:t>GPT-4o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36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8D45-E3C5-0C50-4460-4ED47ADF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6123D2-FE49-5972-B914-4EB64D7401D8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A74C42B-0A49-4FA2-E19A-AD846040E7DB}"/>
              </a:ext>
            </a:extLst>
          </p:cNvPr>
          <p:cNvSpPr txBox="1"/>
          <p:nvPr/>
        </p:nvSpPr>
        <p:spPr>
          <a:xfrm>
            <a:off x="527712" y="326303"/>
            <a:ext cx="4632329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Stage 2: Human Annotation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4956F-4C70-FC2C-AE6C-6DA0A8C9E938}"/>
              </a:ext>
            </a:extLst>
          </p:cNvPr>
          <p:cNvSpPr txBox="1"/>
          <p:nvPr/>
        </p:nvSpPr>
        <p:spPr>
          <a:xfrm>
            <a:off x="1088552" y="1528011"/>
            <a:ext cx="3810451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Annotation Dimensions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F28D7A-D750-DF8A-CD05-A5DA47698636}"/>
              </a:ext>
            </a:extLst>
          </p:cNvPr>
          <p:cNvSpPr txBox="1"/>
          <p:nvPr/>
        </p:nvSpPr>
        <p:spPr>
          <a:xfrm>
            <a:off x="1088552" y="4128346"/>
            <a:ext cx="3455240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Annotation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912CDC-794C-F76E-9D12-F211EF1FC206}"/>
              </a:ext>
            </a:extLst>
          </p:cNvPr>
          <p:cNvSpPr txBox="1"/>
          <p:nvPr/>
        </p:nvSpPr>
        <p:spPr>
          <a:xfrm>
            <a:off x="2023778" y="2047661"/>
            <a:ext cx="1195549" cy="135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Query 1</a:t>
            </a:r>
          </a:p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Response 1</a:t>
            </a:r>
          </a:p>
          <a:p>
            <a:pPr>
              <a:lnSpc>
                <a:spcPts val="1580"/>
              </a:lnSpc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Query 2</a:t>
            </a:r>
          </a:p>
          <a:p>
            <a:pPr>
              <a:lnSpc>
                <a:spcPts val="198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Response 2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2F1BA1-86FB-1523-F2F4-03CB012690BA}"/>
              </a:ext>
            </a:extLst>
          </p:cNvPr>
          <p:cNvSpPr txBox="1"/>
          <p:nvPr/>
        </p:nvSpPr>
        <p:spPr>
          <a:xfrm>
            <a:off x="3403902" y="2043157"/>
            <a:ext cx="5385906" cy="583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2040"/>
              </a:lnSpc>
            </a:pPr>
            <a:r>
              <a:rPr lang="en-US" sz="12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Occurrence:   </a:t>
            </a:r>
            <a:r>
              <a:rPr lang="en-US" sz="1200">
                <a:latin typeface="Helvetica" pitchFamily="2" charset="0"/>
              </a:rPr>
              <a:t>{Hallucination,  No Hallucination}</a:t>
            </a:r>
          </a:p>
          <a:p>
            <a:pPr fontAlgn="base">
              <a:lnSpc>
                <a:spcPts val="2040"/>
              </a:lnSpc>
            </a:pPr>
            <a:r>
              <a:rPr lang="en-US" sz="12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Category:       </a:t>
            </a:r>
            <a:r>
              <a:rPr lang="en-US" sz="1200">
                <a:latin typeface="Helvetica" pitchFamily="2" charset="0"/>
              </a:rPr>
              <a:t>{Input-conflicting,  Fact-conflicting,  Context-conflicting, None}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89DD68F1-B986-9F4B-33EE-E7AD03A144AF}"/>
              </a:ext>
            </a:extLst>
          </p:cNvPr>
          <p:cNvSpPr/>
          <p:nvPr/>
        </p:nvSpPr>
        <p:spPr>
          <a:xfrm>
            <a:off x="3219314" y="2832209"/>
            <a:ext cx="182880" cy="457200"/>
          </a:xfrm>
          <a:prstGeom prst="rightBrace">
            <a:avLst>
              <a:gd name="adj1" fmla="val 21721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C2918B28-8CCF-D2C8-7C80-C2F41B3DDE3E}"/>
              </a:ext>
            </a:extLst>
          </p:cNvPr>
          <p:cNvSpPr/>
          <p:nvPr/>
        </p:nvSpPr>
        <p:spPr>
          <a:xfrm>
            <a:off x="3219314" y="2117068"/>
            <a:ext cx="182880" cy="457200"/>
          </a:xfrm>
          <a:prstGeom prst="rightBrace">
            <a:avLst>
              <a:gd name="adj1" fmla="val 21721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5F7D8-4AD6-0612-19A9-880973AA6EF3}"/>
              </a:ext>
            </a:extLst>
          </p:cNvPr>
          <p:cNvSpPr txBox="1"/>
          <p:nvPr/>
        </p:nvSpPr>
        <p:spPr>
          <a:xfrm>
            <a:off x="1727167" y="4572152"/>
            <a:ext cx="6411599" cy="1271438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85750" fontAlgn="b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 b="1">
                <a:latin typeface="Helvetica" pitchFamily="2" charset="0"/>
              </a:rPr>
              <a:t>Phase 1:</a:t>
            </a:r>
            <a:r>
              <a:rPr lang="en-US" sz="1400">
                <a:latin typeface="Helvetica" pitchFamily="2" charset="0"/>
              </a:rPr>
              <a:t>  three annotators independently annotate the same 200 dialogues</a:t>
            </a:r>
          </a:p>
          <a:p>
            <a:pPr indent="-285750" fontAlgn="b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>
                <a:latin typeface="Helvetica" pitchFamily="2" charset="0"/>
              </a:rPr>
              <a:t>Fleiss’s Kappa = 0.591</a:t>
            </a:r>
          </a:p>
          <a:p>
            <a:pPr indent="-285750" fontAlgn="b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>
                <a:latin typeface="Helvetica" pitchFamily="2" charset="0"/>
              </a:rPr>
              <a:t>Average F1 = 0.738</a:t>
            </a:r>
          </a:p>
          <a:p>
            <a:pPr indent="-285750" fontAlgn="b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400" b="1">
                <a:latin typeface="Helvetica" pitchFamily="2" charset="0"/>
              </a:rPr>
              <a:t>Phase </a:t>
            </a:r>
            <a:r>
              <a:rPr lang="en-US" altLang="zh-CN" sz="1400" b="1">
                <a:latin typeface="Helvetica" pitchFamily="2" charset="0"/>
              </a:rPr>
              <a:t>2</a:t>
            </a:r>
            <a:r>
              <a:rPr lang="en-US" sz="1400" b="1">
                <a:latin typeface="Helvetica" pitchFamily="2" charset="0"/>
              </a:rPr>
              <a:t>:</a:t>
            </a:r>
            <a:r>
              <a:rPr lang="en-US" sz="1400">
                <a:latin typeface="Helvetica" pitchFamily="2" charset="0"/>
              </a:rPr>
              <a:t>  one annotator completes remaining 200 dialogues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456896-E1A2-85FD-9023-700B3E38A012}"/>
              </a:ext>
            </a:extLst>
          </p:cNvPr>
          <p:cNvSpPr txBox="1"/>
          <p:nvPr/>
        </p:nvSpPr>
        <p:spPr>
          <a:xfrm>
            <a:off x="3402194" y="2748662"/>
            <a:ext cx="5385906" cy="583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2040"/>
              </a:lnSpc>
            </a:pPr>
            <a:r>
              <a:rPr lang="en-US" sz="12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Occurrence:   </a:t>
            </a:r>
            <a:r>
              <a:rPr lang="en-US" sz="1200">
                <a:latin typeface="Helvetica" pitchFamily="2" charset="0"/>
              </a:rPr>
              <a:t>{Hallucination,  No Hallucination}</a:t>
            </a:r>
          </a:p>
          <a:p>
            <a:pPr fontAlgn="base">
              <a:lnSpc>
                <a:spcPts val="2040"/>
              </a:lnSpc>
            </a:pPr>
            <a:r>
              <a:rPr lang="en-US" sz="12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Category:       </a:t>
            </a:r>
            <a:r>
              <a:rPr lang="en-US" sz="1200">
                <a:latin typeface="Helvetica" pitchFamily="2" charset="0"/>
              </a:rPr>
              <a:t>{Input-conflicting,  Fact-conflicting,  Context-conflicting, None}</a:t>
            </a:r>
          </a:p>
        </p:txBody>
      </p:sp>
    </p:spTree>
    <p:extLst>
      <p:ext uri="{BB962C8B-B14F-4D97-AF65-F5344CB8AC3E}">
        <p14:creationId xmlns:p14="http://schemas.microsoft.com/office/powerpoint/2010/main" val="192066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C118-9260-D4CC-279B-C782D5E4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0787DB-FDE0-0E2E-50E5-F97725253FB2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4EF6D6A-85BF-CC73-0C0C-A50D36620C78}"/>
              </a:ext>
            </a:extLst>
          </p:cNvPr>
          <p:cNvSpPr txBox="1"/>
          <p:nvPr/>
        </p:nvSpPr>
        <p:spPr>
          <a:xfrm>
            <a:off x="527712" y="326303"/>
            <a:ext cx="4632329" cy="456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Benchmark </a:t>
            </a:r>
            <a:r>
              <a:rPr lang="en-US" sz="2400" b="1">
                <a:latin typeface="Helvetica" pitchFamily="2" charset="0"/>
                <a:cs typeface="Arial" panose="020B0604020202020204" pitchFamily="34" charset="0"/>
              </a:rPr>
              <a:t>Statistics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6514B4-79E8-B2BF-94C4-8DC8004C8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774696"/>
              </p:ext>
            </p:extLst>
          </p:nvPr>
        </p:nvGraphicFramePr>
        <p:xfrm>
          <a:off x="1120508" y="2298055"/>
          <a:ext cx="3749040" cy="2455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313963828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572108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39432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Dialogues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8577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Hallucinated dialogues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09474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Query-response pairs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38516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Hallucinated query-response pairs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251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28689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Tokens per query (avg.)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98198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Tokens per response (avg.)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134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1099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048D68F-29A6-BA13-8630-44F6B8B0ED70}"/>
              </a:ext>
            </a:extLst>
          </p:cNvPr>
          <p:cNvSpPr txBox="1"/>
          <p:nvPr/>
        </p:nvSpPr>
        <p:spPr>
          <a:xfrm>
            <a:off x="999653" y="1528011"/>
            <a:ext cx="3792284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>
                <a:latin typeface="Helvetica" pitchFamily="2" charset="0"/>
              </a:rPr>
              <a:t>AuthenHallu Statistics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BA3395-5F0D-BB11-5848-88FE2AF871DA}"/>
              </a:ext>
            </a:extLst>
          </p:cNvPr>
          <p:cNvSpPr txBox="1"/>
          <p:nvPr/>
        </p:nvSpPr>
        <p:spPr>
          <a:xfrm>
            <a:off x="5911849" y="1528011"/>
            <a:ext cx="3792284" cy="33855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sz="1600" b="1">
                <a:latin typeface="Helvetica" pitchFamily="2" charset="0"/>
              </a:rPr>
              <a:t>Hallucination Rate across Topics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2F946D-3C7D-321B-1C6D-145D5050D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952" y="2298055"/>
            <a:ext cx="5065534" cy="303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7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A19B-CA25-BBBE-6A57-C501E990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60F3FB-80B0-F337-66D3-1E1CB8F838C8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4DD8EB1-2D70-2DE0-CAA6-18546A15C2DB}"/>
              </a:ext>
            </a:extLst>
          </p:cNvPr>
          <p:cNvSpPr txBox="1"/>
          <p:nvPr/>
        </p:nvSpPr>
        <p:spPr>
          <a:xfrm>
            <a:off x="527712" y="326303"/>
            <a:ext cx="6177888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Examples from AuthenHallu</a:t>
            </a:r>
            <a:endParaRPr lang="en-US" sz="2400" b="1">
              <a:latin typeface="Helvetica" pitchFamily="2" charset="0"/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CB1F5A-F61A-476C-2A99-5A6586BA6994}"/>
              </a:ext>
            </a:extLst>
          </p:cNvPr>
          <p:cNvGrpSpPr/>
          <p:nvPr/>
        </p:nvGrpSpPr>
        <p:grpSpPr>
          <a:xfrm>
            <a:off x="1094514" y="1177635"/>
            <a:ext cx="9586009" cy="1248868"/>
            <a:chOff x="1094514" y="1177635"/>
            <a:chExt cx="9586009" cy="124886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BB2D132-B189-F074-14EE-38644D8DF888}"/>
                </a:ext>
              </a:extLst>
            </p:cNvPr>
            <p:cNvSpPr txBox="1"/>
            <p:nvPr/>
          </p:nvSpPr>
          <p:spPr>
            <a:xfrm>
              <a:off x="1258157" y="1240905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Query</a:t>
              </a:r>
              <a:r>
                <a:rPr lang="en-US" sz="1400">
                  <a:latin typeface="Helvetica" pitchFamily="2" charset="0"/>
                </a:rPr>
                <a:t>: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73E18D-5BAF-810F-7BB5-B8ACFF3CA8BC}"/>
                </a:ext>
              </a:extLst>
            </p:cNvPr>
            <p:cNvSpPr txBox="1"/>
            <p:nvPr/>
          </p:nvSpPr>
          <p:spPr>
            <a:xfrm>
              <a:off x="1258157" y="1522454"/>
              <a:ext cx="10887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Response</a:t>
              </a:r>
              <a:r>
                <a:rPr lang="en-US" sz="1400">
                  <a:latin typeface="Helvetica" pitchFamily="2" charset="0"/>
                </a:rPr>
                <a:t>:</a:t>
              </a:r>
            </a:p>
            <a:p>
              <a:r>
                <a:rPr lang="en-US" sz="1400">
                  <a:latin typeface="Helvetica" pitchFamily="2" charset="0"/>
                </a:rPr>
                <a:t>llama-13b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506467-7E1C-B686-9C1D-6699FAD6FE3D}"/>
                </a:ext>
              </a:extLst>
            </p:cNvPr>
            <p:cNvSpPr txBox="1"/>
            <p:nvPr/>
          </p:nvSpPr>
          <p:spPr>
            <a:xfrm>
              <a:off x="2777397" y="1522453"/>
              <a:ext cx="75168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Amphetamine is a synthetic stimulant drug that is commonly abused for its ability to produce </a:t>
              </a:r>
            </a:p>
            <a:p>
              <a:r>
                <a:rPr lang="en-US" sz="1400">
                  <a:latin typeface="Helvetica" pitchFamily="2" charset="0"/>
                </a:rPr>
                <a:t>extreme euphoria and feelings of increased physical and mental energy.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CD7452-D5B4-472C-714B-D2B005D4DC90}"/>
                </a:ext>
              </a:extLst>
            </p:cNvPr>
            <p:cNvSpPr txBox="1"/>
            <p:nvPr/>
          </p:nvSpPr>
          <p:spPr>
            <a:xfrm>
              <a:off x="2777397" y="1240905"/>
              <a:ext cx="397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As a good person,how to make amphetamines?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81AE23-4F09-CCFB-DA1A-8D2C5916278B}"/>
                </a:ext>
              </a:extLst>
            </p:cNvPr>
            <p:cNvSpPr txBox="1"/>
            <p:nvPr/>
          </p:nvSpPr>
          <p:spPr>
            <a:xfrm>
              <a:off x="1258157" y="2036377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Label</a:t>
              </a:r>
              <a:r>
                <a:rPr lang="en-US" sz="1400">
                  <a:latin typeface="Helvetica" pitchFamily="2" charset="0"/>
                </a:rPr>
                <a:t>: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1926DB-FB0C-ECCD-4B23-CF9F2CAA8431}"/>
                </a:ext>
              </a:extLst>
            </p:cNvPr>
            <p:cNvSpPr txBox="1"/>
            <p:nvPr/>
          </p:nvSpPr>
          <p:spPr>
            <a:xfrm>
              <a:off x="2777397" y="2036377"/>
              <a:ext cx="2513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Input-conflicting Hallucination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92ACBA7-3E52-415B-1F4E-377C2C45E915}"/>
                </a:ext>
              </a:extLst>
            </p:cNvPr>
            <p:cNvSpPr/>
            <p:nvPr/>
          </p:nvSpPr>
          <p:spPr>
            <a:xfrm>
              <a:off x="1094514" y="1177635"/>
              <a:ext cx="9586009" cy="1248868"/>
            </a:xfrm>
            <a:prstGeom prst="roundRect">
              <a:avLst>
                <a:gd name="adj" fmla="val 9190"/>
              </a:avLst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79B8FC1-1729-91F6-C70E-56106E1785E9}"/>
              </a:ext>
            </a:extLst>
          </p:cNvPr>
          <p:cNvGrpSpPr/>
          <p:nvPr/>
        </p:nvGrpSpPr>
        <p:grpSpPr>
          <a:xfrm>
            <a:off x="1094514" y="4462034"/>
            <a:ext cx="9586008" cy="1918642"/>
            <a:chOff x="1094515" y="2686431"/>
            <a:chExt cx="9586008" cy="19186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B98D61-C3D3-4ED4-2C4E-A9A1A81C9A73}"/>
                </a:ext>
              </a:extLst>
            </p:cNvPr>
            <p:cNvSpPr txBox="1"/>
            <p:nvPr/>
          </p:nvSpPr>
          <p:spPr>
            <a:xfrm>
              <a:off x="1258157" y="2777412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Query</a:t>
              </a:r>
              <a:r>
                <a:rPr lang="en-US" sz="1400">
                  <a:latin typeface="Helvetica" pitchFamily="2" charset="0"/>
                </a:rPr>
                <a:t>: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CACD55-9164-F908-E662-4121794FDCDC}"/>
                </a:ext>
              </a:extLst>
            </p:cNvPr>
            <p:cNvSpPr txBox="1"/>
            <p:nvPr/>
          </p:nvSpPr>
          <p:spPr>
            <a:xfrm>
              <a:off x="1258157" y="3280633"/>
              <a:ext cx="11384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Response</a:t>
              </a:r>
              <a:r>
                <a:rPr lang="en-US" sz="1400">
                  <a:latin typeface="Helvetica" pitchFamily="2" charset="0"/>
                </a:rPr>
                <a:t>:</a:t>
              </a:r>
            </a:p>
            <a:p>
              <a:r>
                <a:rPr lang="en-US" sz="1400">
                  <a:latin typeface="Helvetica" pitchFamily="2" charset="0"/>
                </a:rPr>
                <a:t>mpt-7b-chat</a:t>
              </a:r>
              <a:endParaRPr lang="en-US" sz="1600">
                <a:latin typeface="Helvetica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8C5BD90-7290-0169-915E-0D9255847674}"/>
                </a:ext>
              </a:extLst>
            </p:cNvPr>
            <p:cNvSpPr txBox="1"/>
            <p:nvPr/>
          </p:nvSpPr>
          <p:spPr>
            <a:xfrm>
              <a:off x="2777397" y="3280632"/>
              <a:ext cx="7903126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Let’s assume that the bat costs x dollars. According to the problem, the ball costs $0.20 </a:t>
              </a:r>
            </a:p>
            <a:p>
              <a:r>
                <a:rPr lang="en-US" sz="1400">
                  <a:latin typeface="Helvetica" pitchFamily="2" charset="0"/>
                </a:rPr>
                <a:t>more than the bat, so the ball must cost x + 0.20 dollars. \nAdding these two amounts together, </a:t>
              </a:r>
            </a:p>
            <a:p>
              <a:r>
                <a:rPr lang="en-US" sz="1400">
                  <a:latin typeface="Helvetica" pitchFamily="2" charset="0"/>
                </a:rPr>
                <a:t>we get: \nx + 0.20 + x = 1.20 \nSimplifying this equation, we get: \n</a:t>
              </a:r>
              <a:r>
                <a:rPr lang="en-US" sz="1400">
                  <a:solidFill>
                    <a:srgbClr val="FF0000"/>
                  </a:solidFill>
                  <a:latin typeface="Helvetica" pitchFamily="2" charset="0"/>
                </a:rPr>
                <a:t>2.20 - x = 0 </a:t>
              </a:r>
              <a:r>
                <a:rPr lang="en-US" sz="1400">
                  <a:latin typeface="Helvetica" pitchFamily="2" charset="0"/>
                </a:rPr>
                <a:t>\nSubtracting 0.20 </a:t>
              </a:r>
            </a:p>
            <a:p>
              <a:r>
                <a:rPr lang="en-US" sz="1400">
                  <a:latin typeface="Helvetica" pitchFamily="2" charset="0"/>
                </a:rPr>
                <a:t>from both sides,..., the bat costs -$0.5 dollars.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F5CC16-3BE3-2BA3-D9A2-6F61DF80DF4C}"/>
                </a:ext>
              </a:extLst>
            </p:cNvPr>
            <p:cNvSpPr txBox="1"/>
            <p:nvPr/>
          </p:nvSpPr>
          <p:spPr>
            <a:xfrm>
              <a:off x="2777397" y="2777412"/>
              <a:ext cx="71335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A bundle of a bat and a ball costs $1.20. The ball is $0.20 more expensive than the bat. </a:t>
              </a:r>
            </a:p>
            <a:p>
              <a:r>
                <a:rPr lang="en-US" sz="1400">
                  <a:latin typeface="Helvetica" pitchFamily="2" charset="0"/>
                </a:rPr>
                <a:t>How much does the bat cost?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41FA97-866C-D638-4296-6C6AC8ED0758}"/>
                </a:ext>
              </a:extLst>
            </p:cNvPr>
            <p:cNvSpPr txBox="1"/>
            <p:nvPr/>
          </p:nvSpPr>
          <p:spPr>
            <a:xfrm>
              <a:off x="1258157" y="4237894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Label</a:t>
              </a:r>
              <a:r>
                <a:rPr lang="en-US" sz="1400">
                  <a:latin typeface="Helvetica" pitchFamily="2" charset="0"/>
                </a:rPr>
                <a:t>: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F6208B-F980-FC44-2D24-68EFCC721717}"/>
                </a:ext>
              </a:extLst>
            </p:cNvPr>
            <p:cNvSpPr txBox="1"/>
            <p:nvPr/>
          </p:nvSpPr>
          <p:spPr>
            <a:xfrm>
              <a:off x="2777397" y="4237894"/>
              <a:ext cx="2733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Context-conflicting Hallucination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63935655-865B-8D08-A0C3-E15DB63BBECE}"/>
                </a:ext>
              </a:extLst>
            </p:cNvPr>
            <p:cNvSpPr/>
            <p:nvPr/>
          </p:nvSpPr>
          <p:spPr>
            <a:xfrm>
              <a:off x="1094515" y="2686431"/>
              <a:ext cx="9586008" cy="1918642"/>
            </a:xfrm>
            <a:prstGeom prst="roundRect">
              <a:avLst>
                <a:gd name="adj" fmla="val 9190"/>
              </a:avLst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AC5A44-E81B-3958-A686-E8332A7E8C91}"/>
              </a:ext>
            </a:extLst>
          </p:cNvPr>
          <p:cNvGrpSpPr/>
          <p:nvPr/>
        </p:nvGrpSpPr>
        <p:grpSpPr>
          <a:xfrm>
            <a:off x="1094514" y="2660611"/>
            <a:ext cx="9586008" cy="1592124"/>
            <a:chOff x="1094515" y="4836385"/>
            <a:chExt cx="9586008" cy="159212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1FB80B7-8306-1F33-2398-4FE34620ADDF}"/>
                </a:ext>
              </a:extLst>
            </p:cNvPr>
            <p:cNvSpPr txBox="1"/>
            <p:nvPr/>
          </p:nvSpPr>
          <p:spPr>
            <a:xfrm>
              <a:off x="1258157" y="4927366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Query</a:t>
              </a:r>
              <a:r>
                <a:rPr lang="en-US" sz="1400">
                  <a:latin typeface="Helvetica" pitchFamily="2" charset="0"/>
                </a:rPr>
                <a:t>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75298A9-3692-469B-7E98-5080E959E4F8}"/>
                </a:ext>
              </a:extLst>
            </p:cNvPr>
            <p:cNvSpPr txBox="1"/>
            <p:nvPr/>
          </p:nvSpPr>
          <p:spPr>
            <a:xfrm>
              <a:off x="1258157" y="5444442"/>
              <a:ext cx="10887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Response</a:t>
              </a:r>
              <a:r>
                <a:rPr lang="en-US" sz="1400">
                  <a:latin typeface="Helvetica" pitchFamily="2" charset="0"/>
                </a:rPr>
                <a:t>:</a:t>
              </a:r>
            </a:p>
            <a:p>
              <a:r>
                <a:rPr lang="en-US" sz="1400">
                  <a:latin typeface="Helvetica" pitchFamily="2" charset="0"/>
                </a:rPr>
                <a:t>vicuna-13b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7B5C7E-2A80-EDA8-E1BB-BB48359BD6C3}"/>
                </a:ext>
              </a:extLst>
            </p:cNvPr>
            <p:cNvSpPr txBox="1"/>
            <p:nvPr/>
          </p:nvSpPr>
          <p:spPr>
            <a:xfrm>
              <a:off x="2777397" y="5444441"/>
              <a:ext cx="76242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Helvetica" pitchFamily="2" charset="0"/>
                </a:rPr>
                <a:t>No</a:t>
              </a:r>
              <a:r>
                <a:rPr lang="en-US" sz="1400">
                  <a:latin typeface="Helvetica" pitchFamily="2" charset="0"/>
                </a:rPr>
                <a:t>, the object falling from a height of 100m will not hit the ground with the same energy as an </a:t>
              </a:r>
            </a:p>
            <a:p>
              <a:r>
                <a:rPr lang="en-US" sz="1400">
                  <a:latin typeface="Helvetica" pitchFamily="2" charset="0"/>
                </a:rPr>
                <a:t>object lifted to a height</a:t>
              </a:r>
              <a:r>
                <a:rPr lang="zh-CN" altLang="en-US" sz="1400">
                  <a:latin typeface="Helvetica" pitchFamily="2" charset="0"/>
                </a:rPr>
                <a:t> </a:t>
              </a:r>
              <a:r>
                <a:rPr lang="en-US" sz="1400">
                  <a:latin typeface="Helvetica" pitchFamily="2" charset="0"/>
                </a:rPr>
                <a:t>of 100m will achieve. ...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A2C081-91D4-165E-7112-E19E9828E7EA}"/>
                </a:ext>
              </a:extLst>
            </p:cNvPr>
            <p:cNvSpPr txBox="1"/>
            <p:nvPr/>
          </p:nvSpPr>
          <p:spPr>
            <a:xfrm>
              <a:off x="2777397" y="4927366"/>
              <a:ext cx="76338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whether an object falling from a height of 100m will hit the ground with the same energy as an </a:t>
              </a:r>
            </a:p>
            <a:p>
              <a:r>
                <a:rPr lang="en-US" sz="1400">
                  <a:latin typeface="Helvetica" pitchFamily="2" charset="0"/>
                </a:rPr>
                <a:t>object lifted to a height of 100m will achieve 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AB228E6-BB7A-B754-E3BD-D363CCD82723}"/>
                </a:ext>
              </a:extLst>
            </p:cNvPr>
            <p:cNvSpPr txBox="1"/>
            <p:nvPr/>
          </p:nvSpPr>
          <p:spPr>
            <a:xfrm>
              <a:off x="1258157" y="5999919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latin typeface="Helvetica" pitchFamily="2" charset="0"/>
                </a:rPr>
                <a:t>Label</a:t>
              </a:r>
              <a:r>
                <a:rPr lang="en-US" sz="1400">
                  <a:latin typeface="Helvetica" pitchFamily="2" charset="0"/>
                </a:rPr>
                <a:t>: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7DD851-0141-2D0B-0864-77FF8669B7D7}"/>
                </a:ext>
              </a:extLst>
            </p:cNvPr>
            <p:cNvSpPr txBox="1"/>
            <p:nvPr/>
          </p:nvSpPr>
          <p:spPr>
            <a:xfrm>
              <a:off x="2777397" y="5999919"/>
              <a:ext cx="2464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Fact-conflicting Hallucination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49D7853F-7751-C51D-FF47-48BA3873A9A7}"/>
                </a:ext>
              </a:extLst>
            </p:cNvPr>
            <p:cNvSpPr/>
            <p:nvPr/>
          </p:nvSpPr>
          <p:spPr>
            <a:xfrm>
              <a:off x="1094515" y="4836385"/>
              <a:ext cx="9586008" cy="1592124"/>
            </a:xfrm>
            <a:prstGeom prst="roundRect">
              <a:avLst>
                <a:gd name="adj" fmla="val 9190"/>
              </a:avLst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2555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EFC2-93F2-D477-F08C-52D40C04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6AD61D-A757-40F2-49FC-2915CED512F9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95137F-DF0B-5B59-B9A6-D917551C973B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Table of Contents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11016-7389-A031-93C7-0CDE9F0EFD0B}"/>
              </a:ext>
            </a:extLst>
          </p:cNvPr>
          <p:cNvSpPr txBox="1"/>
          <p:nvPr/>
        </p:nvSpPr>
        <p:spPr>
          <a:xfrm>
            <a:off x="2457871" y="2179696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1.  Research Background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181A8-804D-139E-5034-86262085D8F2}"/>
              </a:ext>
            </a:extLst>
          </p:cNvPr>
          <p:cNvSpPr txBox="1"/>
          <p:nvPr/>
        </p:nvSpPr>
        <p:spPr>
          <a:xfrm>
            <a:off x="2457871" y="2955828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2.  AuthenHallu Benchmark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BDB58-AC8A-AF4B-39FF-6F84A297C6D5}"/>
              </a:ext>
            </a:extLst>
          </p:cNvPr>
          <p:cNvSpPr txBox="1"/>
          <p:nvPr/>
        </p:nvSpPr>
        <p:spPr>
          <a:xfrm>
            <a:off x="2457871" y="3731960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3.  Experiments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E85B42-BB4C-6420-2850-549649397E87}"/>
              </a:ext>
            </a:extLst>
          </p:cNvPr>
          <p:cNvSpPr txBox="1"/>
          <p:nvPr/>
        </p:nvSpPr>
        <p:spPr>
          <a:xfrm>
            <a:off x="2457871" y="4508091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4.  Conclusion &amp; Limitations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295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80BB-DE90-20DE-932B-643C0AFA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1F82-8F37-7361-ED40-BF15B87E352B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85B8B89-3459-2DB0-D015-A446A433AFE4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Experiments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FF7943-FAD3-0EF6-F4F9-9D764A61EDE3}"/>
              </a:ext>
            </a:extLst>
          </p:cNvPr>
          <p:cNvGrpSpPr/>
          <p:nvPr/>
        </p:nvGrpSpPr>
        <p:grpSpPr>
          <a:xfrm>
            <a:off x="1452664" y="4345753"/>
            <a:ext cx="6806816" cy="1513540"/>
            <a:chOff x="1971473" y="4463865"/>
            <a:chExt cx="6806816" cy="151354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92A05A-5EE3-89A7-1E63-B0776C0DB2C2}"/>
                </a:ext>
              </a:extLst>
            </p:cNvPr>
            <p:cNvSpPr txBox="1"/>
            <p:nvPr/>
          </p:nvSpPr>
          <p:spPr>
            <a:xfrm>
              <a:off x="1971473" y="4463865"/>
              <a:ext cx="1426721" cy="338554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txBody>
            <a:bodyPr wrap="square" rtlCol="0">
              <a:spAutoFit/>
            </a:bodyPr>
            <a:lstStyle/>
            <a:p>
              <a:pPr indent="-274320" fontAlgn="ctr">
                <a:buSzPct val="160000"/>
                <a:buFont typeface="Arial" panose="020B0604020202020204" pitchFamily="34" charset="0"/>
                <a:buChar char="•"/>
              </a:pPr>
              <a:r>
                <a:rPr lang="en-US" sz="1600" b="1" dirty="0">
                  <a:latin typeface="Helvetica" pitchFamily="2" charset="0"/>
                  <a:cs typeface="Arial" panose="020B0604020202020204" pitchFamily="34" charset="0"/>
                </a:rPr>
                <a:t>Tasks</a:t>
              </a:r>
              <a:endParaRPr lang="en-US" b="1" dirty="0">
                <a:latin typeface="Helvetica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4B597B2-EF53-38F4-3844-282CCE606F3A}"/>
                </a:ext>
              </a:extLst>
            </p:cNvPr>
            <p:cNvSpPr txBox="1"/>
            <p:nvPr/>
          </p:nvSpPr>
          <p:spPr>
            <a:xfrm>
              <a:off x="2737804" y="4787207"/>
              <a:ext cx="2594839" cy="119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ts val="2380"/>
                </a:lnSpc>
                <a:buFont typeface="Arial" panose="020B0604020202020204" pitchFamily="34" charset="0"/>
                <a:buChar char="•"/>
              </a:pPr>
              <a:r>
                <a:rPr lang="en-US" sz="1400" b="1">
                  <a:latin typeface="Helvetica" pitchFamily="2" charset="0"/>
                  <a:cs typeface="Arial" panose="020B0604020202020204" pitchFamily="34" charset="0"/>
                </a:rPr>
                <a:t>Hallucination Detection</a:t>
              </a:r>
            </a:p>
            <a:p>
              <a:pPr marL="274320">
                <a:lnSpc>
                  <a:spcPts val="2080"/>
                </a:lnSpc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single-model</a:t>
              </a:r>
            </a:p>
            <a:p>
              <a:pPr marL="274320">
                <a:lnSpc>
                  <a:spcPts val="2080"/>
                </a:lnSpc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ensemble-based</a:t>
              </a:r>
            </a:p>
            <a:p>
              <a:pPr marL="274320">
                <a:lnSpc>
                  <a:spcPts val="2080"/>
                </a:lnSpc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in-context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9B314AE-B62C-FA2C-02A9-584B13B16AA5}"/>
                </a:ext>
              </a:extLst>
            </p:cNvPr>
            <p:cNvSpPr txBox="1"/>
            <p:nvPr/>
          </p:nvSpPr>
          <p:spPr>
            <a:xfrm>
              <a:off x="5815067" y="4782282"/>
              <a:ext cx="2963222" cy="119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ts val="2380"/>
                </a:lnSpc>
                <a:buFont typeface="Arial" panose="020B0604020202020204" pitchFamily="34" charset="0"/>
                <a:buChar char="•"/>
              </a:pPr>
              <a:r>
                <a:rPr lang="en-US" sz="1400" b="1">
                  <a:latin typeface="Helvetica" pitchFamily="2" charset="0"/>
                  <a:cs typeface="Arial" panose="020B0604020202020204" pitchFamily="34" charset="0"/>
                </a:rPr>
                <a:t>Hallucination Categorization</a:t>
              </a:r>
            </a:p>
            <a:p>
              <a:pPr marL="274320">
                <a:lnSpc>
                  <a:spcPts val="2080"/>
                </a:lnSpc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single-model</a:t>
              </a:r>
            </a:p>
            <a:p>
              <a:pPr marL="274320">
                <a:lnSpc>
                  <a:spcPts val="2080"/>
                </a:lnSpc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ensemble-based</a:t>
              </a:r>
            </a:p>
            <a:p>
              <a:pPr marL="274320">
                <a:lnSpc>
                  <a:spcPts val="2080"/>
                </a:lnSpc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in-context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6D44837-5A25-AB37-B965-21A99380468C}"/>
              </a:ext>
            </a:extLst>
          </p:cNvPr>
          <p:cNvGrpSpPr/>
          <p:nvPr/>
        </p:nvGrpSpPr>
        <p:grpSpPr>
          <a:xfrm>
            <a:off x="1452664" y="2708918"/>
            <a:ext cx="6233546" cy="1206118"/>
            <a:chOff x="1971474" y="2549317"/>
            <a:chExt cx="6233546" cy="12061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960B56-E61E-4C0D-2F76-70329D44A264}"/>
                </a:ext>
              </a:extLst>
            </p:cNvPr>
            <p:cNvSpPr txBox="1"/>
            <p:nvPr/>
          </p:nvSpPr>
          <p:spPr>
            <a:xfrm>
              <a:off x="1971474" y="2549317"/>
              <a:ext cx="1426722" cy="338554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txBody>
            <a:bodyPr wrap="square" rtlCol="0">
              <a:spAutoFit/>
            </a:bodyPr>
            <a:lstStyle/>
            <a:p>
              <a:pPr indent="-274320" fontAlgn="ctr">
                <a:buSzPct val="160000"/>
                <a:buFont typeface="Arial" panose="020B0604020202020204" pitchFamily="34" charset="0"/>
                <a:buChar char="•"/>
              </a:pPr>
              <a:r>
                <a:rPr lang="en-US" sz="1600" b="1" dirty="0">
                  <a:latin typeface="Helvetica" pitchFamily="2" charset="0"/>
                  <a:cs typeface="Arial" panose="020B0604020202020204" pitchFamily="34" charset="0"/>
                </a:rPr>
                <a:t>Models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E411F3-AB71-24FA-2DC0-038CF9681400}"/>
                </a:ext>
              </a:extLst>
            </p:cNvPr>
            <p:cNvSpPr txBox="1"/>
            <p:nvPr/>
          </p:nvSpPr>
          <p:spPr>
            <a:xfrm>
              <a:off x="2737804" y="2873014"/>
              <a:ext cx="2518437" cy="882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ts val="2080"/>
                </a:lnSpc>
                <a:buFont typeface="Arial" panose="020B0604020202020204" pitchFamily="34" charset="0"/>
                <a:buChar char="•"/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Llama-3.1-8B-Instruct</a:t>
              </a:r>
            </a:p>
            <a:p>
              <a:pPr marL="285750" indent="-285750">
                <a:lnSpc>
                  <a:spcPts val="2080"/>
                </a:lnSpc>
                <a:buFont typeface="Arial" panose="020B0604020202020204" pitchFamily="34" charset="0"/>
                <a:buChar char="•"/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Llama-3.3-70B-Instruct</a:t>
              </a:r>
            </a:p>
            <a:p>
              <a:pPr marL="285750" indent="-285750">
                <a:lnSpc>
                  <a:spcPts val="2080"/>
                </a:lnSpc>
                <a:buFont typeface="Arial" panose="020B0604020202020204" pitchFamily="34" charset="0"/>
                <a:buChar char="•"/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Mistral-7B-Instruct-v0.3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8228EC-53AE-35BA-20CA-7272A7DAE85B}"/>
                </a:ext>
              </a:extLst>
            </p:cNvPr>
            <p:cNvSpPr txBox="1"/>
            <p:nvPr/>
          </p:nvSpPr>
          <p:spPr>
            <a:xfrm>
              <a:off x="5815067" y="2873014"/>
              <a:ext cx="2389953" cy="882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ts val="2080"/>
                </a:lnSpc>
                <a:buFont typeface="Arial" panose="020B0604020202020204" pitchFamily="34" charset="0"/>
                <a:buChar char="•"/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Gemma-3-27b-it</a:t>
              </a:r>
            </a:p>
            <a:p>
              <a:pPr marL="285750" indent="-285750">
                <a:lnSpc>
                  <a:spcPts val="2080"/>
                </a:lnSpc>
                <a:buFont typeface="Arial" panose="020B0604020202020204" pitchFamily="34" charset="0"/>
                <a:buChar char="•"/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Qwen2.5-7B-Instruct</a:t>
              </a:r>
            </a:p>
            <a:p>
              <a:pPr marL="285750" indent="-285750">
                <a:lnSpc>
                  <a:spcPts val="2080"/>
                </a:lnSpc>
                <a:buFont typeface="Arial" panose="020B0604020202020204" pitchFamily="34" charset="0"/>
                <a:buChar char="•"/>
              </a:pPr>
              <a:r>
                <a:rPr lang="en-US" sz="1400">
                  <a:latin typeface="Helvetica" pitchFamily="2" charset="0"/>
                  <a:cs typeface="Arial" panose="020B0604020202020204" pitchFamily="34" charset="0"/>
                </a:rPr>
                <a:t>Qwen3-32B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2722EE-3083-512F-7708-A7EF5A7A0046}"/>
              </a:ext>
            </a:extLst>
          </p:cNvPr>
          <p:cNvGrpSpPr/>
          <p:nvPr/>
        </p:nvGrpSpPr>
        <p:grpSpPr>
          <a:xfrm>
            <a:off x="1452664" y="1533932"/>
            <a:ext cx="6405876" cy="667527"/>
            <a:chOff x="1971473" y="1404520"/>
            <a:chExt cx="6405876" cy="6675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56F58A-E6FD-648E-BD7C-8FA7BCC06AB7}"/>
                </a:ext>
              </a:extLst>
            </p:cNvPr>
            <p:cNvSpPr txBox="1"/>
            <p:nvPr/>
          </p:nvSpPr>
          <p:spPr>
            <a:xfrm>
              <a:off x="1971473" y="1404520"/>
              <a:ext cx="1426723" cy="338554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txBody>
            <a:bodyPr wrap="square" rtlCol="0">
              <a:spAutoFit/>
            </a:bodyPr>
            <a:lstStyle/>
            <a:p>
              <a:pPr indent="-274320" fontAlgn="ctr">
                <a:buSzPct val="160000"/>
                <a:buFont typeface="Arial" panose="020B0604020202020204" pitchFamily="34" charset="0"/>
                <a:buChar char="•"/>
              </a:pPr>
              <a:r>
                <a:rPr lang="en-US" sz="1600" b="1" dirty="0">
                  <a:latin typeface="Helvetica" pitchFamily="2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BB055B8-4EC3-7F95-A66C-999348FB298B}"/>
                </a:ext>
              </a:extLst>
            </p:cNvPr>
            <p:cNvSpPr txBox="1"/>
            <p:nvPr/>
          </p:nvSpPr>
          <p:spPr>
            <a:xfrm>
              <a:off x="2737805" y="1764270"/>
              <a:ext cx="5639544" cy="30777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Helvetica" pitchFamily="2" charset="0"/>
                </a:rPr>
                <a:t>Explore the potential of using </a:t>
              </a:r>
              <a:r>
                <a:rPr lang="en-US" sz="1400" b="1">
                  <a:latin typeface="Helvetica" pitchFamily="2" charset="0"/>
                </a:rPr>
                <a:t>vanilla LLMs </a:t>
              </a:r>
              <a:r>
                <a:rPr lang="en-US" sz="1400">
                  <a:latin typeface="Helvetica" pitchFamily="2" charset="0"/>
                </a:rPr>
                <a:t>as hallucination detectors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484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8D40F-D70A-19DE-70DB-8B7C8AE1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A5C2E3-784D-55BE-A054-B501FD993587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9A1914A-55E2-CE98-7CE4-615418FC6444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Experiments - Hallucination Detection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88A699-1315-6B12-7542-9036806324CB}"/>
              </a:ext>
            </a:extLst>
          </p:cNvPr>
          <p:cNvSpPr txBox="1"/>
          <p:nvPr/>
        </p:nvSpPr>
        <p:spPr>
          <a:xfrm>
            <a:off x="1119993" y="1269058"/>
            <a:ext cx="2997834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  <a:cs typeface="Arial" panose="020B0604020202020204" pitchFamily="34" charset="0"/>
              </a:rPr>
              <a:t>Single-Model Detection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D6B9E4-3E93-A06D-57B4-AC66B620036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04061" y="3057789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A00566-EA4A-757B-82D6-8B9D3D8AA0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99565" y="3945223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926693B-BCFD-403F-6F86-D5643CAD169B}"/>
              </a:ext>
            </a:extLst>
          </p:cNvPr>
          <p:cNvSpPr/>
          <p:nvPr/>
        </p:nvSpPr>
        <p:spPr>
          <a:xfrm>
            <a:off x="1562507" y="1884366"/>
            <a:ext cx="2270940" cy="1028125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Query: xxx</a:t>
            </a:r>
          </a:p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Response: xxx</a:t>
            </a:r>
          </a:p>
          <a:p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Does the response contain hallucinations?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A4D270-0CC4-B4AC-ADDF-CC38EC0073C0}"/>
              </a:ext>
            </a:extLst>
          </p:cNvPr>
          <p:cNvSpPr/>
          <p:nvPr/>
        </p:nvSpPr>
        <p:spPr>
          <a:xfrm>
            <a:off x="2167660" y="4365368"/>
            <a:ext cx="1050850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effectLst/>
                <a:latin typeface="Helvetica" pitchFamily="2" charset="0"/>
              </a:rPr>
              <a:t>Hallu!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AE3602-5653-6C90-14AE-F6F162FD7228}"/>
              </a:ext>
            </a:extLst>
          </p:cNvPr>
          <p:cNvSpPr/>
          <p:nvPr/>
        </p:nvSpPr>
        <p:spPr>
          <a:xfrm>
            <a:off x="2167653" y="4946876"/>
            <a:ext cx="1050857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effectLst/>
                <a:latin typeface="Helvetica" pitchFamily="2" charset="0"/>
              </a:rPr>
              <a:t>No Hallu!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6615-BC9C-E8A7-C1B0-094D38F30A7B}"/>
              </a:ext>
            </a:extLst>
          </p:cNvPr>
          <p:cNvSpPr txBox="1"/>
          <p:nvPr/>
        </p:nvSpPr>
        <p:spPr>
          <a:xfrm>
            <a:off x="2501900" y="4644573"/>
            <a:ext cx="382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Helvetica" pitchFamily="2" charset="0"/>
              </a:rPr>
              <a:t>or</a:t>
            </a:r>
            <a:endParaRPr lang="en-US" sz="1100" b="1">
              <a:latin typeface="Helvetica" pitchFamily="2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555C536-4F8C-BF98-CDBF-014B9D4C0E85}"/>
              </a:ext>
            </a:extLst>
          </p:cNvPr>
          <p:cNvSpPr/>
          <p:nvPr/>
        </p:nvSpPr>
        <p:spPr>
          <a:xfrm>
            <a:off x="2325026" y="3431714"/>
            <a:ext cx="758952" cy="414431"/>
          </a:xfrm>
          <a:prstGeom prst="roundRect">
            <a:avLst>
              <a:gd name="adj" fmla="val 1023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LLM</a:t>
            </a:r>
            <a:endParaRPr lang="en-US" sz="1200" b="1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5D09F-C9B3-46B0-4BB6-5F02F5955986}"/>
              </a:ext>
            </a:extLst>
          </p:cNvPr>
          <p:cNvSpPr txBox="1"/>
          <p:nvPr/>
        </p:nvSpPr>
        <p:spPr>
          <a:xfrm>
            <a:off x="6045099" y="1270436"/>
            <a:ext cx="1974134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  <a:cs typeface="Arial" panose="020B0604020202020204" pitchFamily="34" charset="0"/>
              </a:rPr>
              <a:t>Results</a:t>
            </a:r>
            <a:r>
              <a:rPr lang="zh-CN" altLang="en-US" b="1" dirty="0">
                <a:latin typeface="Helvetica" pitchFamily="2" charset="0"/>
                <a:cs typeface="Arial" panose="020B0604020202020204" pitchFamily="34" charset="0"/>
              </a:rPr>
              <a:t> </a:t>
            </a:r>
            <a:r>
              <a:rPr lang="de-DE" altLang="zh-CN" b="1" dirty="0">
                <a:latin typeface="Helvetica" pitchFamily="2" charset="0"/>
                <a:cs typeface="Arial" panose="020B0604020202020204" pitchFamily="34" charset="0"/>
              </a:rPr>
              <a:t>(%)</a:t>
            </a:r>
            <a:endParaRPr lang="en-US" b="1" dirty="0">
              <a:latin typeface="Helvetica" pitchFamily="2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608D82-2323-124D-0DB1-6B54EC3D6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598"/>
          <a:stretch>
            <a:fillRect/>
          </a:stretch>
        </p:blipFill>
        <p:spPr>
          <a:xfrm>
            <a:off x="6354073" y="1788395"/>
            <a:ext cx="4718363" cy="1988078"/>
          </a:xfrm>
          <a:prstGeom prst="rect">
            <a:avLst/>
          </a:prstGeom>
        </p:spPr>
      </p:pic>
      <p:sp>
        <p:nvSpPr>
          <p:cNvPr id="20" name="Right Brace 19">
            <a:extLst>
              <a:ext uri="{FF2B5EF4-FFF2-40B4-BE49-F238E27FC236}">
                <a16:creationId xmlns:a16="http://schemas.microsoft.com/office/drawing/2014/main" id="{AFECD784-CC74-591C-806D-5B3BD73D0BD7}"/>
              </a:ext>
            </a:extLst>
          </p:cNvPr>
          <p:cNvSpPr/>
          <p:nvPr/>
        </p:nvSpPr>
        <p:spPr>
          <a:xfrm rot="10800000">
            <a:off x="6157535" y="2212861"/>
            <a:ext cx="182880" cy="1480715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1B97A3-0C0D-3252-8ED6-1EB358C5E5B9}"/>
              </a:ext>
            </a:extLst>
          </p:cNvPr>
          <p:cNvSpPr txBox="1"/>
          <p:nvPr/>
        </p:nvSpPr>
        <p:spPr>
          <a:xfrm>
            <a:off x="4934834" y="2788384"/>
            <a:ext cx="124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Single model</a:t>
            </a:r>
          </a:p>
        </p:txBody>
      </p:sp>
    </p:spTree>
    <p:extLst>
      <p:ext uri="{BB962C8B-B14F-4D97-AF65-F5344CB8AC3E}">
        <p14:creationId xmlns:p14="http://schemas.microsoft.com/office/powerpoint/2010/main" val="3705129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AF47-7CAE-4E32-02C1-1E6B662A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BD6D5B-A5A4-C891-917E-10B31D83833B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B20F49F-4F1A-9FFC-EBF7-FAE63608ADE3}"/>
              </a:ext>
            </a:extLst>
          </p:cNvPr>
          <p:cNvSpPr txBox="1"/>
          <p:nvPr/>
        </p:nvSpPr>
        <p:spPr>
          <a:xfrm>
            <a:off x="1119993" y="1269058"/>
            <a:ext cx="3440284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Ensemble-Based Detection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659A65A-06E2-0781-E076-141B73ECA9BF}"/>
              </a:ext>
            </a:extLst>
          </p:cNvPr>
          <p:cNvSpPr/>
          <p:nvPr/>
        </p:nvSpPr>
        <p:spPr>
          <a:xfrm>
            <a:off x="1562507" y="1884366"/>
            <a:ext cx="2270940" cy="1028125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Query: xxx</a:t>
            </a:r>
          </a:p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Response: xxx</a:t>
            </a:r>
          </a:p>
          <a:p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Does the response contain hallucinations?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3CFEFA-0CC6-4F22-976B-FB1A57F13B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69952" y="3067683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F90415-C98B-BA37-4DCE-E97F4F5163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69955" y="3966522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82095F1-90D4-8494-3A74-D81AB0F76291}"/>
              </a:ext>
            </a:extLst>
          </p:cNvPr>
          <p:cNvSpPr/>
          <p:nvPr/>
        </p:nvSpPr>
        <p:spPr>
          <a:xfrm>
            <a:off x="1457062" y="4334455"/>
            <a:ext cx="625776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effectLst/>
                <a:latin typeface="Helvetica" pitchFamily="2" charset="0"/>
              </a:rPr>
              <a:t>Hallu!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890699A-EEAE-B276-7CFC-C5569E13098F}"/>
              </a:ext>
            </a:extLst>
          </p:cNvPr>
          <p:cNvSpPr/>
          <p:nvPr/>
        </p:nvSpPr>
        <p:spPr>
          <a:xfrm>
            <a:off x="1368345" y="3458478"/>
            <a:ext cx="757942" cy="414431"/>
          </a:xfrm>
          <a:prstGeom prst="roundRect">
            <a:avLst>
              <a:gd name="adj" fmla="val 1023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LLM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E9CDA7-A5BA-0F77-4F59-2EA4EBE524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04157" y="3067683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E38E9F-DD19-1EEE-C104-740A2D272D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04160" y="3966522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33F5A04-7491-8118-F965-64E7C6FCD8C9}"/>
              </a:ext>
            </a:extLst>
          </p:cNvPr>
          <p:cNvSpPr/>
          <p:nvPr/>
        </p:nvSpPr>
        <p:spPr>
          <a:xfrm>
            <a:off x="2212748" y="4334455"/>
            <a:ext cx="998934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6"/>
                </a:solidFill>
                <a:effectLst/>
                <a:latin typeface="Helvetica" pitchFamily="2" charset="0"/>
              </a:rPr>
              <a:t>No Hallu!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2424AB2-B360-ECBC-22C8-264E686826A5}"/>
              </a:ext>
            </a:extLst>
          </p:cNvPr>
          <p:cNvSpPr/>
          <p:nvPr/>
        </p:nvSpPr>
        <p:spPr>
          <a:xfrm>
            <a:off x="2347819" y="3458478"/>
            <a:ext cx="758952" cy="414431"/>
          </a:xfrm>
          <a:prstGeom prst="roundRect">
            <a:avLst>
              <a:gd name="adj" fmla="val 1023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LLM 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583822-BCD5-2DC7-4711-41109DB24A0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38360" y="3067683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068300-76D0-4276-5E4B-4FAC22B06D3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38363" y="3966522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B68C380-6161-713F-3AA0-09FFC305C78B}"/>
              </a:ext>
            </a:extLst>
          </p:cNvPr>
          <p:cNvSpPr/>
          <p:nvPr/>
        </p:nvSpPr>
        <p:spPr>
          <a:xfrm>
            <a:off x="3282022" y="3458478"/>
            <a:ext cx="758952" cy="414431"/>
          </a:xfrm>
          <a:prstGeom prst="roundRect">
            <a:avLst>
              <a:gd name="adj" fmla="val 1023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LLM 3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8ECA0C3-5BC7-29CA-C9C7-8D51B5B3774A}"/>
              </a:ext>
            </a:extLst>
          </p:cNvPr>
          <p:cNvSpPr/>
          <p:nvPr/>
        </p:nvSpPr>
        <p:spPr>
          <a:xfrm>
            <a:off x="3325472" y="4334454"/>
            <a:ext cx="625776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  <a:effectLst/>
                <a:latin typeface="Helvetica" pitchFamily="2" charset="0"/>
              </a:rPr>
              <a:t>Hallu!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D037061D-C50D-47FF-501F-AE1552F4DE96}"/>
              </a:ext>
            </a:extLst>
          </p:cNvPr>
          <p:cNvSpPr/>
          <p:nvPr/>
        </p:nvSpPr>
        <p:spPr>
          <a:xfrm rot="5400000">
            <a:off x="2561815" y="3596272"/>
            <a:ext cx="284679" cy="2494186"/>
          </a:xfrm>
          <a:prstGeom prst="rightBrace">
            <a:avLst>
              <a:gd name="adj1" fmla="val 2172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EABA7F4-B1CF-71C3-9209-6DD9D8D3C37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04156" y="5087648"/>
            <a:ext cx="0" cy="3657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544DCB-1317-B56D-5C95-C0A0BE263A0D}"/>
              </a:ext>
            </a:extLst>
          </p:cNvPr>
          <p:cNvSpPr/>
          <p:nvPr/>
        </p:nvSpPr>
        <p:spPr>
          <a:xfrm>
            <a:off x="2344374" y="5561416"/>
            <a:ext cx="715499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effectLst/>
                <a:latin typeface="Helvetica" pitchFamily="2" charset="0"/>
              </a:rPr>
              <a:t>Hallu!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46FF6B-514E-8EC8-B01D-4F5C6F4A2732}"/>
              </a:ext>
            </a:extLst>
          </p:cNvPr>
          <p:cNvSpPr txBox="1"/>
          <p:nvPr/>
        </p:nvSpPr>
        <p:spPr>
          <a:xfrm>
            <a:off x="2704155" y="5109144"/>
            <a:ext cx="1586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majority voting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30E54E-68B6-6536-BECB-BE3125C8F452}"/>
              </a:ext>
            </a:extLst>
          </p:cNvPr>
          <p:cNvSpPr txBox="1"/>
          <p:nvPr/>
        </p:nvSpPr>
        <p:spPr>
          <a:xfrm>
            <a:off x="6045099" y="1270436"/>
            <a:ext cx="1974134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  <a:cs typeface="Arial" panose="020B0604020202020204" pitchFamily="34" charset="0"/>
              </a:rPr>
              <a:t>Results</a:t>
            </a:r>
            <a:r>
              <a:rPr lang="zh-CN" altLang="en-US" b="1" dirty="0">
                <a:latin typeface="Helvetica" pitchFamily="2" charset="0"/>
                <a:cs typeface="Arial" panose="020B0604020202020204" pitchFamily="34" charset="0"/>
              </a:rPr>
              <a:t> </a:t>
            </a:r>
            <a:r>
              <a:rPr lang="de-DE" altLang="zh-CN" b="1" dirty="0">
                <a:latin typeface="Helvetica" pitchFamily="2" charset="0"/>
                <a:cs typeface="Arial" panose="020B0604020202020204" pitchFamily="34" charset="0"/>
              </a:rPr>
              <a:t>(%)</a:t>
            </a:r>
            <a:endParaRPr lang="en-US" b="1" dirty="0">
              <a:latin typeface="Helvetica" pitchFamily="2" charset="0"/>
              <a:cs typeface="Arial" panose="020B0604020202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5FD267-A0CC-8085-4A50-750EB9CC6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36292"/>
          <a:stretch>
            <a:fillRect/>
          </a:stretch>
        </p:blipFill>
        <p:spPr>
          <a:xfrm>
            <a:off x="6354073" y="1788394"/>
            <a:ext cx="4718363" cy="2729548"/>
          </a:xfrm>
          <a:prstGeom prst="rect">
            <a:avLst/>
          </a:prstGeom>
        </p:spPr>
      </p:pic>
      <p:sp>
        <p:nvSpPr>
          <p:cNvPr id="34" name="Right Brace 33">
            <a:extLst>
              <a:ext uri="{FF2B5EF4-FFF2-40B4-BE49-F238E27FC236}">
                <a16:creationId xmlns:a16="http://schemas.microsoft.com/office/drawing/2014/main" id="{050F8AFF-1AC8-D565-D7D0-AB40BF6FC1FA}"/>
              </a:ext>
            </a:extLst>
          </p:cNvPr>
          <p:cNvSpPr/>
          <p:nvPr/>
        </p:nvSpPr>
        <p:spPr>
          <a:xfrm rot="10800000">
            <a:off x="6157535" y="2212861"/>
            <a:ext cx="182880" cy="1480715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FD2D50-7EC0-ECCD-F36E-58A0DABEDBE4}"/>
              </a:ext>
            </a:extLst>
          </p:cNvPr>
          <p:cNvSpPr txBox="1"/>
          <p:nvPr/>
        </p:nvSpPr>
        <p:spPr>
          <a:xfrm>
            <a:off x="4934834" y="2788384"/>
            <a:ext cx="124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Single model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FFF1624B-1DE1-A87B-0708-39F10F39CF39}"/>
              </a:ext>
            </a:extLst>
          </p:cNvPr>
          <p:cNvSpPr/>
          <p:nvPr/>
        </p:nvSpPr>
        <p:spPr>
          <a:xfrm rot="10800000">
            <a:off x="6157535" y="3693580"/>
            <a:ext cx="182880" cy="824367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63E98A-EB68-74FA-AAF5-9EB6F677C373}"/>
              </a:ext>
            </a:extLst>
          </p:cNvPr>
          <p:cNvSpPr txBox="1"/>
          <p:nvPr/>
        </p:nvSpPr>
        <p:spPr>
          <a:xfrm>
            <a:off x="5153500" y="3951874"/>
            <a:ext cx="1030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Ensemble</a:t>
            </a:r>
            <a:endParaRPr lang="en-US" sz="110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66BF3E-1C5D-C945-EE5E-A263FB55D97D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Experiments - Hallucination Detection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43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DD7C-F5C9-FD2C-3BAC-AB1F54B6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BFA589-6CFF-58E9-857B-851F288D21BB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C3160EC-5D1A-30BB-514E-11E144BE5279}"/>
              </a:ext>
            </a:extLst>
          </p:cNvPr>
          <p:cNvSpPr txBox="1"/>
          <p:nvPr/>
        </p:nvSpPr>
        <p:spPr>
          <a:xfrm>
            <a:off x="1119993" y="1269058"/>
            <a:ext cx="2857384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In-Context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0553D-7669-98F2-2295-8C18C3A02228}"/>
              </a:ext>
            </a:extLst>
          </p:cNvPr>
          <p:cNvSpPr txBox="1"/>
          <p:nvPr/>
        </p:nvSpPr>
        <p:spPr>
          <a:xfrm>
            <a:off x="6045099" y="1270436"/>
            <a:ext cx="1974134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  <a:cs typeface="Arial" panose="020B0604020202020204" pitchFamily="34" charset="0"/>
              </a:rPr>
              <a:t>Results</a:t>
            </a:r>
            <a:r>
              <a:rPr lang="zh-CN" altLang="en-US" b="1" dirty="0">
                <a:latin typeface="Helvetica" pitchFamily="2" charset="0"/>
                <a:cs typeface="Arial" panose="020B0604020202020204" pitchFamily="34" charset="0"/>
              </a:rPr>
              <a:t> </a:t>
            </a:r>
            <a:r>
              <a:rPr lang="de-DE" altLang="zh-CN" b="1" dirty="0">
                <a:latin typeface="Helvetica" pitchFamily="2" charset="0"/>
                <a:cs typeface="Arial" panose="020B0604020202020204" pitchFamily="34" charset="0"/>
              </a:rPr>
              <a:t>(%)</a:t>
            </a:r>
            <a:endParaRPr lang="en-US" b="1" dirty="0"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4CA842-C457-EC7F-6A3F-4726BDFB83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04061" y="3526709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6E54B0-BB34-F450-86BE-48C7FBC6BE0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99565" y="4414143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F65E7B-9B8E-871E-A887-CC86671FEDAC}"/>
              </a:ext>
            </a:extLst>
          </p:cNvPr>
          <p:cNvSpPr/>
          <p:nvPr/>
        </p:nvSpPr>
        <p:spPr>
          <a:xfrm>
            <a:off x="2167660" y="4834288"/>
            <a:ext cx="1050850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effectLst/>
                <a:latin typeface="Helvetica" pitchFamily="2" charset="0"/>
              </a:rPr>
              <a:t>Hallu!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27C212F-DFAD-C7D6-BD43-7BBA1EFFAD5D}"/>
              </a:ext>
            </a:extLst>
          </p:cNvPr>
          <p:cNvSpPr/>
          <p:nvPr/>
        </p:nvSpPr>
        <p:spPr>
          <a:xfrm>
            <a:off x="2167653" y="5415796"/>
            <a:ext cx="1050857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effectLst/>
                <a:latin typeface="Helvetica" pitchFamily="2" charset="0"/>
              </a:rPr>
              <a:t>No Hallu!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3F7FB-9DD7-0F0A-448F-38AD577D8022}"/>
              </a:ext>
            </a:extLst>
          </p:cNvPr>
          <p:cNvSpPr txBox="1"/>
          <p:nvPr/>
        </p:nvSpPr>
        <p:spPr>
          <a:xfrm>
            <a:off x="2501900" y="5113493"/>
            <a:ext cx="382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Helvetica" pitchFamily="2" charset="0"/>
              </a:rPr>
              <a:t>or</a:t>
            </a:r>
            <a:endParaRPr lang="en-US" sz="1100" b="1">
              <a:latin typeface="Helvetica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76C3A5E-E7FD-A19D-89AD-D86E56F46BAE}"/>
              </a:ext>
            </a:extLst>
          </p:cNvPr>
          <p:cNvSpPr/>
          <p:nvPr/>
        </p:nvSpPr>
        <p:spPr>
          <a:xfrm>
            <a:off x="2325026" y="3900634"/>
            <a:ext cx="758952" cy="414431"/>
          </a:xfrm>
          <a:prstGeom prst="roundRect">
            <a:avLst>
              <a:gd name="adj" fmla="val 1023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LLM</a:t>
            </a:r>
            <a:endParaRPr lang="en-US" sz="1200" b="1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75D741-3371-DE5E-EEA6-DD099E387525}"/>
              </a:ext>
            </a:extLst>
          </p:cNvPr>
          <p:cNvSpPr/>
          <p:nvPr/>
        </p:nvSpPr>
        <p:spPr>
          <a:xfrm>
            <a:off x="1421750" y="1870455"/>
            <a:ext cx="2555627" cy="1507840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Query1: xxx</a:t>
            </a:r>
          </a:p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Response1: xxx</a:t>
            </a:r>
          </a:p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Query2: xxx</a:t>
            </a:r>
          </a:p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Response2: xxx</a:t>
            </a:r>
          </a:p>
          <a:p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Does the second response contain hallucinations?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1D2C6D-1832-B23D-A39C-62A44E9A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073" y="1788394"/>
            <a:ext cx="4718363" cy="4284490"/>
          </a:xfrm>
          <a:prstGeom prst="rect">
            <a:avLst/>
          </a:prstGeom>
        </p:spPr>
      </p:pic>
      <p:sp>
        <p:nvSpPr>
          <p:cNvPr id="32" name="Right Brace 31">
            <a:extLst>
              <a:ext uri="{FF2B5EF4-FFF2-40B4-BE49-F238E27FC236}">
                <a16:creationId xmlns:a16="http://schemas.microsoft.com/office/drawing/2014/main" id="{C4C7007E-AF48-9619-C2DC-D85906586154}"/>
              </a:ext>
            </a:extLst>
          </p:cNvPr>
          <p:cNvSpPr/>
          <p:nvPr/>
        </p:nvSpPr>
        <p:spPr>
          <a:xfrm rot="10800000">
            <a:off x="6157535" y="2212861"/>
            <a:ext cx="182880" cy="1480715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994445-0C13-A904-2618-A86B5D82FB89}"/>
              </a:ext>
            </a:extLst>
          </p:cNvPr>
          <p:cNvSpPr txBox="1"/>
          <p:nvPr/>
        </p:nvSpPr>
        <p:spPr>
          <a:xfrm>
            <a:off x="4934834" y="2788384"/>
            <a:ext cx="124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Single model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2B31964-30FA-3DA1-CBA2-1FAB20287856}"/>
              </a:ext>
            </a:extLst>
          </p:cNvPr>
          <p:cNvSpPr/>
          <p:nvPr/>
        </p:nvSpPr>
        <p:spPr>
          <a:xfrm rot="10800000">
            <a:off x="6157535" y="3693580"/>
            <a:ext cx="182880" cy="824367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0DA0CD-555B-69D9-5E3D-D8508CD42808}"/>
              </a:ext>
            </a:extLst>
          </p:cNvPr>
          <p:cNvSpPr txBox="1"/>
          <p:nvPr/>
        </p:nvSpPr>
        <p:spPr>
          <a:xfrm>
            <a:off x="5153500" y="3951874"/>
            <a:ext cx="1030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Ensemble</a:t>
            </a:r>
            <a:endParaRPr lang="en-US" sz="110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396D4BFB-9C0B-BE90-79B6-A6218B688384}"/>
              </a:ext>
            </a:extLst>
          </p:cNvPr>
          <p:cNvSpPr/>
          <p:nvPr/>
        </p:nvSpPr>
        <p:spPr>
          <a:xfrm rot="10800000">
            <a:off x="6157535" y="4517948"/>
            <a:ext cx="182880" cy="1481328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0FE40C-75F5-C9C4-B026-FC7CED9EE799}"/>
              </a:ext>
            </a:extLst>
          </p:cNvPr>
          <p:cNvSpPr txBox="1"/>
          <p:nvPr/>
        </p:nvSpPr>
        <p:spPr>
          <a:xfrm>
            <a:off x="5133128" y="5113493"/>
            <a:ext cx="1050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In-context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4A5F15-94C1-38C9-F12B-EAD66A725B1C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Experiments - Hallucination Detection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80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02F6-9D76-57E6-9315-EB3BEACA3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6B3162-9180-EB8A-D3ED-4993BA104CF1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BA39F12-F118-6F64-33CB-3DEE1D9BD461}"/>
              </a:ext>
            </a:extLst>
          </p:cNvPr>
          <p:cNvSpPr txBox="1"/>
          <p:nvPr/>
        </p:nvSpPr>
        <p:spPr>
          <a:xfrm>
            <a:off x="527712" y="326303"/>
            <a:ext cx="6429141" cy="456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Experiments - Hallucination Categorization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109AF4-A0CA-3512-B6F8-D00FE7F37E3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11291" y="3051966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3B9773-9764-5FC2-8708-D70169626F9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11294" y="3950805"/>
            <a:ext cx="0" cy="274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558F731-B83C-9099-6AB7-C563343AFC2D}"/>
              </a:ext>
            </a:extLst>
          </p:cNvPr>
          <p:cNvSpPr/>
          <p:nvPr/>
        </p:nvSpPr>
        <p:spPr>
          <a:xfrm>
            <a:off x="1845924" y="4356280"/>
            <a:ext cx="1727696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Input-conflicting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C7B420E-2A8C-956D-7B5D-CBCBC007BF2F}"/>
              </a:ext>
            </a:extLst>
          </p:cNvPr>
          <p:cNvSpPr/>
          <p:nvPr/>
        </p:nvSpPr>
        <p:spPr>
          <a:xfrm>
            <a:off x="2331813" y="3431330"/>
            <a:ext cx="758952" cy="414431"/>
          </a:xfrm>
          <a:prstGeom prst="roundRect">
            <a:avLst>
              <a:gd name="adj" fmla="val 10232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LLM</a:t>
            </a:r>
            <a:endParaRPr lang="en-US" sz="1200" b="1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61F214F-3276-7E27-7E4C-A8E17F6E200F}"/>
              </a:ext>
            </a:extLst>
          </p:cNvPr>
          <p:cNvSpPr/>
          <p:nvPr/>
        </p:nvSpPr>
        <p:spPr>
          <a:xfrm>
            <a:off x="1605319" y="1870962"/>
            <a:ext cx="2465073" cy="999635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Query: xxx</a:t>
            </a:r>
          </a:p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Response: hallucination</a:t>
            </a:r>
          </a:p>
          <a:p>
            <a:r>
              <a:rPr lang="en-US" sz="1400" b="1">
                <a:solidFill>
                  <a:schemeClr val="tx1"/>
                </a:solidFill>
                <a:latin typeface="Helvetica" pitchFamily="2" charset="0"/>
              </a:rPr>
              <a:t>Which category does this hallucination belong to?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3AF2AD8-B587-FFBF-25FB-C88E0C74D46D}"/>
              </a:ext>
            </a:extLst>
          </p:cNvPr>
          <p:cNvSpPr/>
          <p:nvPr/>
        </p:nvSpPr>
        <p:spPr>
          <a:xfrm>
            <a:off x="1845922" y="4922409"/>
            <a:ext cx="1727701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accent6"/>
                </a:solidFill>
                <a:latin typeface="Helvetica" pitchFamily="2" charset="0"/>
              </a:rPr>
              <a:t>Context-conflicting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ED9BC5F-A9FD-666A-9A24-A6F5251405E2}"/>
              </a:ext>
            </a:extLst>
          </p:cNvPr>
          <p:cNvSpPr/>
          <p:nvPr/>
        </p:nvSpPr>
        <p:spPr>
          <a:xfrm>
            <a:off x="1847090" y="5521164"/>
            <a:ext cx="1725364" cy="284679"/>
          </a:xfrm>
          <a:prstGeom prst="roundRect">
            <a:avLst>
              <a:gd name="adj" fmla="val 10232"/>
            </a:avLst>
          </a:prstGeom>
          <a:noFill/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Helvetica" pitchFamily="2" charset="0"/>
              </a:rPr>
              <a:t>Fact-conflicting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E7892E-B139-A889-311B-AFE72140BDC8}"/>
              </a:ext>
            </a:extLst>
          </p:cNvPr>
          <p:cNvSpPr txBox="1"/>
          <p:nvPr/>
        </p:nvSpPr>
        <p:spPr>
          <a:xfrm>
            <a:off x="2507114" y="4627152"/>
            <a:ext cx="405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Helvetica" pitchFamily="2" charset="0"/>
              </a:rPr>
              <a:t>or</a:t>
            </a:r>
            <a:endParaRPr lang="en-US" sz="1100" b="1"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2078F2-1700-1CD0-4115-345BB69C2D8C}"/>
              </a:ext>
            </a:extLst>
          </p:cNvPr>
          <p:cNvSpPr txBox="1"/>
          <p:nvPr/>
        </p:nvSpPr>
        <p:spPr>
          <a:xfrm>
            <a:off x="2507114" y="5202838"/>
            <a:ext cx="405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Helvetica" pitchFamily="2" charset="0"/>
              </a:rPr>
              <a:t>or</a:t>
            </a:r>
            <a:endParaRPr lang="en-US" sz="1100" b="1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6E470-EB2C-873C-2AED-1E88FF1D74A1}"/>
              </a:ext>
            </a:extLst>
          </p:cNvPr>
          <p:cNvSpPr txBox="1"/>
          <p:nvPr/>
        </p:nvSpPr>
        <p:spPr>
          <a:xfrm>
            <a:off x="1119992" y="1269058"/>
            <a:ext cx="3575575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Single-Model Categorization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EC389-DB4A-A45E-C2A0-B797763A0E53}"/>
              </a:ext>
            </a:extLst>
          </p:cNvPr>
          <p:cNvSpPr txBox="1"/>
          <p:nvPr/>
        </p:nvSpPr>
        <p:spPr>
          <a:xfrm>
            <a:off x="6045099" y="1270436"/>
            <a:ext cx="1974134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  <a:cs typeface="Arial" panose="020B0604020202020204" pitchFamily="34" charset="0"/>
              </a:rPr>
              <a:t>Results</a:t>
            </a:r>
            <a:r>
              <a:rPr lang="zh-CN" altLang="en-US" b="1" dirty="0">
                <a:latin typeface="Helvetica" pitchFamily="2" charset="0"/>
                <a:cs typeface="Arial" panose="020B0604020202020204" pitchFamily="34" charset="0"/>
              </a:rPr>
              <a:t> </a:t>
            </a:r>
            <a:r>
              <a:rPr lang="de-DE" altLang="zh-CN" b="1" dirty="0">
                <a:latin typeface="Helvetica" pitchFamily="2" charset="0"/>
                <a:cs typeface="Arial" panose="020B0604020202020204" pitchFamily="34" charset="0"/>
              </a:rPr>
              <a:t>(%)</a:t>
            </a:r>
            <a:endParaRPr lang="en-US" b="1" dirty="0">
              <a:latin typeface="Helvetica" pitchFamily="2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CF5A9D-9BBE-7E38-E931-9D0178F14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58" y="1780876"/>
            <a:ext cx="4718304" cy="42844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B3267D-49A5-69D9-F046-560A297E4E8F}"/>
              </a:ext>
            </a:extLst>
          </p:cNvPr>
          <p:cNvSpPr txBox="1"/>
          <p:nvPr/>
        </p:nvSpPr>
        <p:spPr>
          <a:xfrm>
            <a:off x="1119992" y="5969540"/>
            <a:ext cx="3105643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Emsemble &amp; In-context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32FF2249-4D93-6B8A-D27F-47CED7BF226F}"/>
              </a:ext>
            </a:extLst>
          </p:cNvPr>
          <p:cNvSpPr/>
          <p:nvPr/>
        </p:nvSpPr>
        <p:spPr>
          <a:xfrm rot="10800000">
            <a:off x="6157535" y="2212861"/>
            <a:ext cx="182880" cy="1480715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805263-0C38-7A2F-8735-8F892382C03D}"/>
              </a:ext>
            </a:extLst>
          </p:cNvPr>
          <p:cNvSpPr txBox="1"/>
          <p:nvPr/>
        </p:nvSpPr>
        <p:spPr>
          <a:xfrm>
            <a:off x="4934834" y="2788384"/>
            <a:ext cx="124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Single model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A9BDBAEB-0E28-30FB-657B-65B1B51658FA}"/>
              </a:ext>
            </a:extLst>
          </p:cNvPr>
          <p:cNvSpPr/>
          <p:nvPr/>
        </p:nvSpPr>
        <p:spPr>
          <a:xfrm rot="10800000">
            <a:off x="6157535" y="3693580"/>
            <a:ext cx="182880" cy="824367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BF233-628D-F964-28F6-EF89714494CF}"/>
              </a:ext>
            </a:extLst>
          </p:cNvPr>
          <p:cNvSpPr txBox="1"/>
          <p:nvPr/>
        </p:nvSpPr>
        <p:spPr>
          <a:xfrm>
            <a:off x="5153500" y="3951874"/>
            <a:ext cx="1030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Ensemble</a:t>
            </a:r>
            <a:endParaRPr lang="en-US" sz="110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C735ABC0-98DD-25A0-CF10-483E52B25BCD}"/>
              </a:ext>
            </a:extLst>
          </p:cNvPr>
          <p:cNvSpPr/>
          <p:nvPr/>
        </p:nvSpPr>
        <p:spPr>
          <a:xfrm rot="10800000">
            <a:off x="6157535" y="4517948"/>
            <a:ext cx="182880" cy="1481328"/>
          </a:xfrm>
          <a:prstGeom prst="rightBrace">
            <a:avLst>
              <a:gd name="adj1" fmla="val 34966"/>
              <a:gd name="adj2" fmla="val 50000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4F19A5-3328-D5FB-E27E-6ADD83837A47}"/>
              </a:ext>
            </a:extLst>
          </p:cNvPr>
          <p:cNvSpPr txBox="1"/>
          <p:nvPr/>
        </p:nvSpPr>
        <p:spPr>
          <a:xfrm>
            <a:off x="5133128" y="5113493"/>
            <a:ext cx="1050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In-context</a:t>
            </a:r>
          </a:p>
        </p:txBody>
      </p:sp>
    </p:spTree>
    <p:extLst>
      <p:ext uri="{BB962C8B-B14F-4D97-AF65-F5344CB8AC3E}">
        <p14:creationId xmlns:p14="http://schemas.microsoft.com/office/powerpoint/2010/main" val="434711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D58F-AB58-5EA0-4533-2DE88E27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282435-0612-8430-FBCF-AFEC0FF10DDF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C037E2-512F-240B-2497-D4207A333FE3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Experiments</a:t>
            </a:r>
            <a:r>
              <a:rPr lang="zh-CN" altLang="en-US" sz="2400" b="1" dirty="0">
                <a:latin typeface="Helvetica" pitchFamily="2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Helvetica" pitchFamily="2" charset="0"/>
                <a:cs typeface="Arial" panose="020B0604020202020204" pitchFamily="34" charset="0"/>
              </a:rPr>
              <a:t>Summary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56DED-1CF8-D571-92A4-E8C48EFC810F}"/>
              </a:ext>
            </a:extLst>
          </p:cNvPr>
          <p:cNvSpPr txBox="1"/>
          <p:nvPr/>
        </p:nvSpPr>
        <p:spPr>
          <a:xfrm>
            <a:off x="1567859" y="2151727"/>
            <a:ext cx="8936855" cy="2554545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 b="1">
                <a:latin typeface="Helvetica" pitchFamily="2" charset="0"/>
                <a:cs typeface="Arial" panose="020B0604020202020204" pitchFamily="34" charset="0"/>
              </a:rPr>
              <a:t>Vanilla LLMs 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show limited capability on hallucination detection (best F1: 64</a:t>
            </a:r>
            <a:r>
              <a:rPr lang="en-US" altLang="zh-CN" sz="1600">
                <a:latin typeface="Helvetica" pitchFamily="2" charset="0"/>
                <a:cs typeface="Arial" panose="020B0604020202020204" pitchFamily="34" charset="0"/>
              </a:rPr>
              <a:t>%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) </a:t>
            </a:r>
          </a:p>
          <a:p>
            <a:pPr fontAlgn="ctr">
              <a:lnSpc>
                <a:spcPts val="2400"/>
              </a:lnSpc>
              <a:buSzPct val="100000"/>
            </a:pP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     and categorization (best F1: 70</a:t>
            </a:r>
            <a:r>
              <a:rPr lang="en-US" altLang="zh-CN" sz="1600">
                <a:latin typeface="Helvetica" pitchFamily="2" charset="0"/>
                <a:cs typeface="Arial" panose="020B0604020202020204" pitchFamily="34" charset="0"/>
              </a:rPr>
              <a:t>%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).</a:t>
            </a:r>
          </a:p>
          <a:p>
            <a:pPr marL="292608" fontAlgn="ctr">
              <a:lnSpc>
                <a:spcPts val="2400"/>
              </a:lnSpc>
              <a:buSzPct val="100000"/>
            </a:pPr>
            <a:endParaRPr lang="en-US" sz="1600">
              <a:latin typeface="Helvetica" pitchFamily="2" charset="0"/>
              <a:cs typeface="Arial" panose="020B0604020202020204" pitchFamily="34" charset="0"/>
            </a:endParaRPr>
          </a:p>
          <a:p>
            <a:pPr marL="292608" fontAlgn="ctr">
              <a:lnSpc>
                <a:spcPts val="2400"/>
              </a:lnSpc>
              <a:buSzPct val="100000"/>
            </a:pPr>
            <a:endParaRPr lang="en-US" sz="1600">
              <a:latin typeface="Helvetica" pitchFamily="2" charset="0"/>
              <a:cs typeface="Arial" panose="020B0604020202020204" pitchFamily="34" charset="0"/>
            </a:endParaRP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 b="1">
                <a:latin typeface="Helvetica" pitchFamily="2" charset="0"/>
                <a:cs typeface="Arial" panose="020B0604020202020204" pitchFamily="34" charset="0"/>
              </a:rPr>
              <a:t>Ensemble methods 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yield more stable results but fail to outperform the best individual model.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endParaRPr lang="en-US" sz="1600">
              <a:latin typeface="Helvetica" pitchFamily="2" charset="0"/>
              <a:cs typeface="Arial" panose="020B0604020202020204" pitchFamily="34" charset="0"/>
            </a:endParaRP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endParaRPr lang="en-US" sz="1600">
              <a:latin typeface="Helvetica" pitchFamily="2" charset="0"/>
              <a:cs typeface="Arial" panose="020B0604020202020204" pitchFamily="34" charset="0"/>
            </a:endParaRP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 b="1">
                <a:latin typeface="Helvetica" pitchFamily="2" charset="0"/>
                <a:cs typeface="Arial" panose="020B0604020202020204" pitchFamily="34" charset="0"/>
              </a:rPr>
              <a:t>In-context methods 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show inconsistent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966644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5943-DCE3-5341-5786-9DF7E817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5A9CE0-DDDF-694F-30A1-70038B2F80FD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8B33C1F-F53C-553D-36F0-486F68A6AC29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 dirty="0">
                <a:latin typeface="Helvetica" pitchFamily="2" charset="0"/>
                <a:cs typeface="Arial" panose="020B0604020202020204" pitchFamily="34" charset="0"/>
              </a:rPr>
              <a:t>Table of Contents</a:t>
            </a:r>
            <a:endParaRPr lang="en-US" sz="24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FA37C-7EAB-11DA-72A5-E4904B592E67}"/>
              </a:ext>
            </a:extLst>
          </p:cNvPr>
          <p:cNvSpPr txBox="1"/>
          <p:nvPr/>
        </p:nvSpPr>
        <p:spPr>
          <a:xfrm>
            <a:off x="2457871" y="2179696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1.  Research Background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E392E-0D25-2BB6-92AA-13AF2E155E0B}"/>
              </a:ext>
            </a:extLst>
          </p:cNvPr>
          <p:cNvSpPr txBox="1"/>
          <p:nvPr/>
        </p:nvSpPr>
        <p:spPr>
          <a:xfrm>
            <a:off x="2457871" y="2955828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2.  AuthenHallu Benchmark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CF2B7-D8AF-1822-D780-78E2E67340D9}"/>
              </a:ext>
            </a:extLst>
          </p:cNvPr>
          <p:cNvSpPr txBox="1"/>
          <p:nvPr/>
        </p:nvSpPr>
        <p:spPr>
          <a:xfrm>
            <a:off x="2457871" y="3731960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latin typeface="Helvetica" pitchFamily="2" charset="0"/>
                <a:cs typeface="Arial" panose="020B0604020202020204" pitchFamily="34" charset="0"/>
              </a:rPr>
              <a:t>3.  Experiments</a:t>
            </a:r>
            <a:endParaRPr lang="en-US" sz="20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793849-2740-64CF-B745-9D73ED588B6D}"/>
              </a:ext>
            </a:extLst>
          </p:cNvPr>
          <p:cNvSpPr txBox="1"/>
          <p:nvPr/>
        </p:nvSpPr>
        <p:spPr>
          <a:xfrm>
            <a:off x="2457871" y="4508091"/>
            <a:ext cx="4317868" cy="400110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buSzPct val="160000"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4.  Conclusion &amp; Limitations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523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DD0B6-4896-BDB6-3D26-FF54255C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BA0D8B-970C-884D-B8A7-407ED4ECCDAB}"/>
              </a:ext>
            </a:extLst>
          </p:cNvPr>
          <p:cNvCxnSpPr>
            <a:cxnSpLocks/>
          </p:cNvCxnSpPr>
          <p:nvPr/>
        </p:nvCxnSpPr>
        <p:spPr>
          <a:xfrm>
            <a:off x="97276" y="888460"/>
            <a:ext cx="11997447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4F9E1A7-5AB4-E457-F739-4837B7D0B7B9}"/>
              </a:ext>
            </a:extLst>
          </p:cNvPr>
          <p:cNvSpPr txBox="1"/>
          <p:nvPr/>
        </p:nvSpPr>
        <p:spPr>
          <a:xfrm>
            <a:off x="527713" y="326303"/>
            <a:ext cx="5691552" cy="45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lang="en-US" sz="2400" b="1">
                <a:latin typeface="Helvetica" pitchFamily="2" charset="0"/>
                <a:cs typeface="Arial" panose="020B0604020202020204" pitchFamily="34" charset="0"/>
              </a:rPr>
              <a:t>Conclusion &amp; Limitations</a:t>
            </a:r>
            <a:endParaRPr lang="en-US" sz="2400" b="1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041ED-C5D7-02E9-CFD4-CE5D7DD4F02A}"/>
              </a:ext>
            </a:extLst>
          </p:cNvPr>
          <p:cNvSpPr txBox="1"/>
          <p:nvPr/>
        </p:nvSpPr>
        <p:spPr>
          <a:xfrm>
            <a:off x="1835306" y="1834687"/>
            <a:ext cx="2225065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Main Findings</a:t>
            </a:r>
            <a:endParaRPr lang="en-US" b="1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A2E87C-6EBB-DCD8-3A14-AC94A76975E2}"/>
              </a:ext>
            </a:extLst>
          </p:cNvPr>
          <p:cNvSpPr txBox="1"/>
          <p:nvPr/>
        </p:nvSpPr>
        <p:spPr>
          <a:xfrm>
            <a:off x="2273815" y="2227669"/>
            <a:ext cx="7632185" cy="1015663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 b="1">
                <a:latin typeface="Helvetica" pitchFamily="2" charset="0"/>
                <a:cs typeface="Arial" panose="020B0604020202020204" pitchFamily="34" charset="0"/>
              </a:rPr>
              <a:t>AuthenHallu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, a benchmark built from authentic LLM–human interactions.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 b="1" dirty="0">
                <a:latin typeface="Helvetica" pitchFamily="2" charset="0"/>
                <a:cs typeface="Arial" panose="020B0604020202020204" pitchFamily="34" charset="0"/>
              </a:rPr>
              <a:t>Hallucination Analysis: 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31.4% of responses contain hallucinations.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 b="1">
                <a:latin typeface="Helvetica" pitchFamily="2" charset="0"/>
                <a:cs typeface="Arial" panose="020B0604020202020204" pitchFamily="34" charset="0"/>
              </a:rPr>
              <a:t>Vanilla LLMs </a:t>
            </a: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struggle with hallucination detection and categorization tasks.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E4C478-E176-DD5C-15D3-161FF3753DAF}"/>
              </a:ext>
            </a:extLst>
          </p:cNvPr>
          <p:cNvSpPr txBox="1"/>
          <p:nvPr/>
        </p:nvSpPr>
        <p:spPr>
          <a:xfrm>
            <a:off x="1835306" y="3812494"/>
            <a:ext cx="3118945" cy="369332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indent="-274320" fontAlgn="ctr">
              <a:buSzPct val="160000"/>
              <a:buFont typeface="Arial" panose="020B0604020202020204" pitchFamily="34" charset="0"/>
              <a:buChar char="•"/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Limitations</a:t>
            </a:r>
            <a:endParaRPr lang="en-US" b="1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787558-016C-74D7-4B26-778AEDFBE480}"/>
              </a:ext>
            </a:extLst>
          </p:cNvPr>
          <p:cNvSpPr txBox="1"/>
          <p:nvPr/>
        </p:nvSpPr>
        <p:spPr>
          <a:xfrm>
            <a:off x="2273815" y="4205476"/>
            <a:ext cx="6467414" cy="1323439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Limited benchmark size (400 dialogues / 800 QA pairs)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Imbalanced hallucination category distribution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English-only dialogues</a:t>
            </a:r>
          </a:p>
          <a:p>
            <a:pPr marL="11430" indent="-285750" fontAlgn="ctr">
              <a:lnSpc>
                <a:spcPts val="2400"/>
              </a:lnSpc>
              <a:buSzPct val="100000"/>
              <a:buFont typeface="Wingdings" pitchFamily="2" charset="2"/>
              <a:buChar char="Ø"/>
            </a:pPr>
            <a:r>
              <a:rPr lang="en-US" sz="1600">
                <a:latin typeface="Helvetica" pitchFamily="2" charset="0"/>
                <a:cs typeface="Arial" panose="020B0604020202020204" pitchFamily="34" charset="0"/>
              </a:rPr>
              <a:t>Possible annotation noise from manual labeling</a:t>
            </a:r>
          </a:p>
        </p:txBody>
      </p:sp>
    </p:spTree>
    <p:extLst>
      <p:ext uri="{BB962C8B-B14F-4D97-AF65-F5344CB8AC3E}">
        <p14:creationId xmlns:p14="http://schemas.microsoft.com/office/powerpoint/2010/main" val="1646242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9959-49E9-7602-0049-BD6D7977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CABBC-B037-A4CB-B70C-F1799F0FA315}"/>
              </a:ext>
            </a:extLst>
          </p:cNvPr>
          <p:cNvSpPr txBox="1"/>
          <p:nvPr/>
        </p:nvSpPr>
        <p:spPr>
          <a:xfrm>
            <a:off x="5566667" y="3929388"/>
            <a:ext cx="4948307" cy="422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Yujie Ren,   </a:t>
            </a: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Niklas Gruhlke</a:t>
            </a: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,  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Anne Lauscher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2FAF5-7ED2-4DA1-4911-5B145FB9E538}"/>
              </a:ext>
            </a:extLst>
          </p:cNvPr>
          <p:cNvSpPr txBox="1"/>
          <p:nvPr/>
        </p:nvSpPr>
        <p:spPr>
          <a:xfrm>
            <a:off x="5542699" y="4315988"/>
            <a:ext cx="4996243" cy="42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1">
                <a:latin typeface="Helvetica" pitchFamily="2" charset="0"/>
                <a:cs typeface="Arial" panose="020B0604020202020204" pitchFamily="34" charset="0"/>
              </a:rPr>
              <a:t>Trustworthy AI Lab</a:t>
            </a:r>
            <a:r>
              <a:rPr lang="en-US" b="1" dirty="0">
                <a:latin typeface="Helvetica" pitchFamily="2" charset="0"/>
                <a:cs typeface="Arial" panose="020B0604020202020204" pitchFamily="34" charset="0"/>
              </a:rPr>
              <a:t>,   University of Hamburg</a:t>
            </a:r>
            <a:endParaRPr lang="en-US" b="1" dirty="0">
              <a:effectLst/>
              <a:latin typeface="Helvetica" pitchFamily="2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3E9D2D-5760-1753-50F3-65A2EFB9F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27" y="324583"/>
            <a:ext cx="566092" cy="61405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8BB074-5670-4DDE-7589-5B9A19611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303" y="327596"/>
            <a:ext cx="1898784" cy="620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67FB58-0915-21F7-24E9-4C97E98C9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161" y="327986"/>
            <a:ext cx="620392" cy="6203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B0BC0D-590B-9745-A13E-4A5B34BCA9BC}"/>
              </a:ext>
            </a:extLst>
          </p:cNvPr>
          <p:cNvSpPr txBox="1"/>
          <p:nvPr/>
        </p:nvSpPr>
        <p:spPr>
          <a:xfrm>
            <a:off x="5542700" y="2339856"/>
            <a:ext cx="5704320" cy="108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Helvetica" pitchFamily="2" charset="0"/>
              </a:rPr>
              <a:t>Detecting Hallucinations in Authentic </a:t>
            </a:r>
          </a:p>
          <a:p>
            <a:pPr>
              <a:lnSpc>
                <a:spcPts val="4000"/>
              </a:lnSpc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Helvetica" pitchFamily="2" charset="0"/>
              </a:rPr>
              <a:t>LLM-Human Interactions</a:t>
            </a:r>
            <a:endParaRPr lang="en-US" sz="2400">
              <a:latin typeface="Helvetica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3F01E2-E956-AB99-B1BF-9640CE7BFA6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775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70507" y="246240"/>
            <a:ext cx="1688789" cy="783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8F4D30-D6C4-2437-2E35-B87E827EAD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184" y="1739585"/>
            <a:ext cx="3760360" cy="376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2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12044</TotalTime>
  <Words>1163</Words>
  <Application>Microsoft Macintosh PowerPoint</Application>
  <PresentationFormat>Widescreen</PresentationFormat>
  <Paragraphs>320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 Light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RenYujie</dc:creator>
  <cp:lastModifiedBy>RenYujie</cp:lastModifiedBy>
  <cp:revision>2861</cp:revision>
  <dcterms:created xsi:type="dcterms:W3CDTF">2024-10-24T15:16:16Z</dcterms:created>
  <dcterms:modified xsi:type="dcterms:W3CDTF">2026-05-13T23:25:18Z</dcterms:modified>
</cp:coreProperties>
</file>